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6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79034D-B7AD-C5BB-46C8-68ADB948DE90}" v="146" dt="2026-01-23T23:16:46.2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9C76407-1991-437F-B10C-6FE9874C7366}" type="doc">
      <dgm:prSet loTypeId="urn:microsoft.com/office/officeart/2005/8/layout/list1" loCatId="list" qsTypeId="urn:microsoft.com/office/officeart/2005/8/quickstyle/simple2" qsCatId="simple" csTypeId="urn:microsoft.com/office/officeart/2005/8/colors/accent0_1" csCatId="mainScheme"/>
      <dgm:spPr/>
      <dgm:t>
        <a:bodyPr/>
        <a:lstStyle/>
        <a:p>
          <a:endParaRPr lang="en-US"/>
        </a:p>
      </dgm:t>
    </dgm:pt>
    <dgm:pt modelId="{9B4CF8E9-FB75-42A9-91C8-F882D8B32B29}">
      <dgm:prSet/>
      <dgm:spPr/>
      <dgm:t>
        <a:bodyPr/>
        <a:lstStyle/>
        <a:p>
          <a:pPr rtl="0"/>
          <a:r>
            <a:rPr lang="hr-HR" dirty="0">
              <a:latin typeface="Calibri"/>
              <a:ea typeface="Calibri"/>
              <a:cs typeface="Calibri"/>
            </a:rPr>
            <a:t>Članovi grupe i uloge</a:t>
          </a:r>
        </a:p>
      </dgm:t>
    </dgm:pt>
    <dgm:pt modelId="{6526EF34-B4F7-4FA6-8F78-AE62D283F0B6}" type="parTrans" cxnId="{32D7F5C1-E22A-45B9-B4B6-8D9C7C94D7D3}">
      <dgm:prSet/>
      <dgm:spPr/>
      <dgm:t>
        <a:bodyPr/>
        <a:lstStyle/>
        <a:p>
          <a:endParaRPr lang="en-US"/>
        </a:p>
      </dgm:t>
    </dgm:pt>
    <dgm:pt modelId="{ECB85F6B-2F8E-41EC-B84D-6D561159EEAE}" type="sibTrans" cxnId="{32D7F5C1-E22A-45B9-B4B6-8D9C7C94D7D3}">
      <dgm:prSet/>
      <dgm:spPr/>
      <dgm:t>
        <a:bodyPr/>
        <a:lstStyle/>
        <a:p>
          <a:endParaRPr lang="en-US"/>
        </a:p>
      </dgm:t>
    </dgm:pt>
    <dgm:pt modelId="{A946EAF8-C494-4ADB-AACA-9FAC561C90B3}">
      <dgm:prSet/>
      <dgm:spPr/>
      <dgm:t>
        <a:bodyPr/>
        <a:lstStyle/>
        <a:p>
          <a:r>
            <a:rPr lang="hr-HR" dirty="0">
              <a:latin typeface="Calibri"/>
              <a:ea typeface="Calibri"/>
              <a:cs typeface="Calibri"/>
            </a:rPr>
            <a:t>O projektu</a:t>
          </a:r>
          <a:endParaRPr lang="en-US" dirty="0">
            <a:latin typeface="Calibri"/>
            <a:ea typeface="Calibri"/>
            <a:cs typeface="Calibri"/>
          </a:endParaRPr>
        </a:p>
      </dgm:t>
    </dgm:pt>
    <dgm:pt modelId="{1FBF8CC7-AC62-43FF-B97A-817CFDEED71E}" type="parTrans" cxnId="{EC3099E2-DD32-4968-88BD-CFC701620D59}">
      <dgm:prSet/>
      <dgm:spPr/>
      <dgm:t>
        <a:bodyPr/>
        <a:lstStyle/>
        <a:p>
          <a:endParaRPr lang="en-US"/>
        </a:p>
      </dgm:t>
    </dgm:pt>
    <dgm:pt modelId="{3B68E91E-78C6-452F-9297-82DF2A6854EE}" type="sibTrans" cxnId="{EC3099E2-DD32-4968-88BD-CFC701620D59}">
      <dgm:prSet/>
      <dgm:spPr/>
      <dgm:t>
        <a:bodyPr/>
        <a:lstStyle/>
        <a:p>
          <a:endParaRPr lang="en-US"/>
        </a:p>
      </dgm:t>
    </dgm:pt>
    <dgm:pt modelId="{DF6DDCAE-1813-42DC-A2DB-AA1BC3835CFF}">
      <dgm:prSet/>
      <dgm:spPr/>
      <dgm:t>
        <a:bodyPr/>
        <a:lstStyle/>
        <a:p>
          <a:r>
            <a:rPr lang="hr-HR" dirty="0">
              <a:latin typeface="Calibri"/>
              <a:ea typeface="Calibri"/>
              <a:cs typeface="Calibri"/>
            </a:rPr>
            <a:t>Pregled zahtjeva:</a:t>
          </a:r>
          <a:endParaRPr lang="en-US" dirty="0">
            <a:latin typeface="Calibri"/>
            <a:ea typeface="Calibri"/>
            <a:cs typeface="Calibri"/>
          </a:endParaRPr>
        </a:p>
      </dgm:t>
    </dgm:pt>
    <dgm:pt modelId="{74921437-31AB-4AC0-A30D-11542E907EB4}" type="parTrans" cxnId="{E64EE643-82B2-463E-A1F9-4D8F5F72CB14}">
      <dgm:prSet/>
      <dgm:spPr/>
      <dgm:t>
        <a:bodyPr/>
        <a:lstStyle/>
        <a:p>
          <a:endParaRPr lang="en-US"/>
        </a:p>
      </dgm:t>
    </dgm:pt>
    <dgm:pt modelId="{31A5B53D-0B3D-4A60-A7DA-A7B21EDF9C24}" type="sibTrans" cxnId="{E64EE643-82B2-463E-A1F9-4D8F5F72CB14}">
      <dgm:prSet/>
      <dgm:spPr/>
      <dgm:t>
        <a:bodyPr/>
        <a:lstStyle/>
        <a:p>
          <a:endParaRPr lang="en-US"/>
        </a:p>
      </dgm:t>
    </dgm:pt>
    <dgm:pt modelId="{CBBD84F7-12D4-48C7-A8EB-A7A3A8DD5EFE}">
      <dgm:prSet phldr="0"/>
      <dgm:spPr/>
      <dgm:t>
        <a:bodyPr/>
        <a:lstStyle/>
        <a:p>
          <a:r>
            <a:rPr lang="hr-HR" dirty="0">
              <a:latin typeface="Calibri"/>
              <a:ea typeface="Calibri"/>
              <a:cs typeface="Calibri"/>
            </a:rPr>
            <a:t>Funkcionalni</a:t>
          </a:r>
        </a:p>
      </dgm:t>
    </dgm:pt>
    <dgm:pt modelId="{3B433CFD-0DB4-4FC5-AEBB-694BD78417BB}" type="parTrans" cxnId="{CD51D28F-FBED-4862-833F-504716AC2F10}">
      <dgm:prSet/>
      <dgm:spPr/>
      <dgm:t>
        <a:bodyPr/>
        <a:lstStyle/>
        <a:p>
          <a:endParaRPr lang="en-US"/>
        </a:p>
      </dgm:t>
    </dgm:pt>
    <dgm:pt modelId="{3D74CEEB-AD8A-424D-BE46-F2614EC338E3}" type="sibTrans" cxnId="{CD51D28F-FBED-4862-833F-504716AC2F10}">
      <dgm:prSet/>
      <dgm:spPr/>
      <dgm:t>
        <a:bodyPr/>
        <a:lstStyle/>
        <a:p>
          <a:endParaRPr lang="en-US"/>
        </a:p>
      </dgm:t>
    </dgm:pt>
    <dgm:pt modelId="{B13D9B16-1B4D-460A-BC6F-14C6FA0BC449}">
      <dgm:prSet/>
      <dgm:spPr/>
      <dgm:t>
        <a:bodyPr/>
        <a:lstStyle/>
        <a:p>
          <a:r>
            <a:rPr lang="hr-HR" dirty="0">
              <a:latin typeface="Calibri"/>
              <a:ea typeface="Calibri"/>
              <a:cs typeface="Calibri"/>
            </a:rPr>
            <a:t>Nefunkcionalni</a:t>
          </a:r>
          <a:endParaRPr lang="en-US" dirty="0">
            <a:latin typeface="Calibri"/>
            <a:ea typeface="Calibri"/>
            <a:cs typeface="Calibri"/>
          </a:endParaRPr>
        </a:p>
      </dgm:t>
    </dgm:pt>
    <dgm:pt modelId="{3105E9F3-7241-4646-9F74-91A61A5D0340}" type="parTrans" cxnId="{2C90B7A1-A0B2-4349-8DD9-B9EA49893FC9}">
      <dgm:prSet/>
      <dgm:spPr/>
      <dgm:t>
        <a:bodyPr/>
        <a:lstStyle/>
        <a:p>
          <a:endParaRPr lang="en-US"/>
        </a:p>
      </dgm:t>
    </dgm:pt>
    <dgm:pt modelId="{38B0BB55-F934-42B8-8DA0-E48F1F017A79}" type="sibTrans" cxnId="{2C90B7A1-A0B2-4349-8DD9-B9EA49893FC9}">
      <dgm:prSet/>
      <dgm:spPr/>
      <dgm:t>
        <a:bodyPr/>
        <a:lstStyle/>
        <a:p>
          <a:endParaRPr lang="en-US"/>
        </a:p>
      </dgm:t>
    </dgm:pt>
    <dgm:pt modelId="{7ADD945C-FCE7-4380-A1B3-4D5D85CE2EE1}">
      <dgm:prSet/>
      <dgm:spPr/>
      <dgm:t>
        <a:bodyPr/>
        <a:lstStyle/>
        <a:p>
          <a:r>
            <a:rPr lang="hr-HR" dirty="0">
              <a:latin typeface="Calibri"/>
              <a:ea typeface="Calibri"/>
              <a:cs typeface="Calibri"/>
            </a:rPr>
            <a:t>Tehnologije</a:t>
          </a:r>
          <a:endParaRPr lang="en-US" dirty="0">
            <a:latin typeface="Calibri"/>
            <a:ea typeface="Calibri"/>
            <a:cs typeface="Calibri"/>
          </a:endParaRPr>
        </a:p>
      </dgm:t>
    </dgm:pt>
    <dgm:pt modelId="{EA129802-9A31-47CB-B815-A6EAA752263D}" type="parTrans" cxnId="{E2C9DA49-1AAF-4F16-8345-4A6B69296A57}">
      <dgm:prSet/>
      <dgm:spPr/>
      <dgm:t>
        <a:bodyPr/>
        <a:lstStyle/>
        <a:p>
          <a:endParaRPr lang="en-US"/>
        </a:p>
      </dgm:t>
    </dgm:pt>
    <dgm:pt modelId="{AA4E7FB2-E3D7-45DA-AFA2-D5BFB519EFCF}" type="sibTrans" cxnId="{E2C9DA49-1AAF-4F16-8345-4A6B69296A57}">
      <dgm:prSet/>
      <dgm:spPr/>
      <dgm:t>
        <a:bodyPr/>
        <a:lstStyle/>
        <a:p>
          <a:endParaRPr lang="en-US"/>
        </a:p>
      </dgm:t>
    </dgm:pt>
    <dgm:pt modelId="{DAF5A489-B749-42EB-96FA-CF59D26286F0}" type="pres">
      <dgm:prSet presAssocID="{59C76407-1991-437F-B10C-6FE9874C7366}" presName="linear" presStyleCnt="0">
        <dgm:presLayoutVars>
          <dgm:dir/>
          <dgm:animLvl val="lvl"/>
          <dgm:resizeHandles val="exact"/>
        </dgm:presLayoutVars>
      </dgm:prSet>
      <dgm:spPr/>
    </dgm:pt>
    <dgm:pt modelId="{852AC96C-8D26-42A8-BE24-571BE0CE19EA}" type="pres">
      <dgm:prSet presAssocID="{9B4CF8E9-FB75-42A9-91C8-F882D8B32B29}" presName="parentLin" presStyleCnt="0"/>
      <dgm:spPr/>
    </dgm:pt>
    <dgm:pt modelId="{7B0F76D1-98FE-4BF3-9A14-12B1E282D104}" type="pres">
      <dgm:prSet presAssocID="{9B4CF8E9-FB75-42A9-91C8-F882D8B32B29}" presName="parentLeftMargin" presStyleLbl="node1" presStyleIdx="0" presStyleCnt="4"/>
      <dgm:spPr/>
    </dgm:pt>
    <dgm:pt modelId="{256856EF-17F1-465B-A9F5-5C8B8A9DF82D}" type="pres">
      <dgm:prSet presAssocID="{9B4CF8E9-FB75-42A9-91C8-F882D8B32B29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B5BA85DE-C3F8-45DE-8044-A3FF6B7198DF}" type="pres">
      <dgm:prSet presAssocID="{9B4CF8E9-FB75-42A9-91C8-F882D8B32B29}" presName="negativeSpace" presStyleCnt="0"/>
      <dgm:spPr/>
    </dgm:pt>
    <dgm:pt modelId="{602D7AF8-9175-42E9-BBA1-49A80BAD52DD}" type="pres">
      <dgm:prSet presAssocID="{9B4CF8E9-FB75-42A9-91C8-F882D8B32B29}" presName="childText" presStyleLbl="conFgAcc1" presStyleIdx="0" presStyleCnt="4">
        <dgm:presLayoutVars>
          <dgm:bulletEnabled val="1"/>
        </dgm:presLayoutVars>
      </dgm:prSet>
      <dgm:spPr/>
    </dgm:pt>
    <dgm:pt modelId="{4419AD8E-E774-4154-8651-A5C9DA28E7B1}" type="pres">
      <dgm:prSet presAssocID="{ECB85F6B-2F8E-41EC-B84D-6D561159EEAE}" presName="spaceBetweenRectangles" presStyleCnt="0"/>
      <dgm:spPr/>
    </dgm:pt>
    <dgm:pt modelId="{86D48F75-042F-4F62-9486-F2E81B41CE65}" type="pres">
      <dgm:prSet presAssocID="{A946EAF8-C494-4ADB-AACA-9FAC561C90B3}" presName="parentLin" presStyleCnt="0"/>
      <dgm:spPr/>
    </dgm:pt>
    <dgm:pt modelId="{5E1A49BE-698C-486F-A490-56D90753C820}" type="pres">
      <dgm:prSet presAssocID="{A946EAF8-C494-4ADB-AACA-9FAC561C90B3}" presName="parentLeftMargin" presStyleLbl="node1" presStyleIdx="0" presStyleCnt="4"/>
      <dgm:spPr/>
    </dgm:pt>
    <dgm:pt modelId="{D7AAF1F3-300A-4AF7-A8E7-E872219C6C49}" type="pres">
      <dgm:prSet presAssocID="{A946EAF8-C494-4ADB-AACA-9FAC561C90B3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75E6D8CF-C5BC-45C1-A534-84712A6169C5}" type="pres">
      <dgm:prSet presAssocID="{A946EAF8-C494-4ADB-AACA-9FAC561C90B3}" presName="negativeSpace" presStyleCnt="0"/>
      <dgm:spPr/>
    </dgm:pt>
    <dgm:pt modelId="{6031F898-206E-47EE-84E0-4733FB4C9841}" type="pres">
      <dgm:prSet presAssocID="{A946EAF8-C494-4ADB-AACA-9FAC561C90B3}" presName="childText" presStyleLbl="conFgAcc1" presStyleIdx="1" presStyleCnt="4">
        <dgm:presLayoutVars>
          <dgm:bulletEnabled val="1"/>
        </dgm:presLayoutVars>
      </dgm:prSet>
      <dgm:spPr/>
    </dgm:pt>
    <dgm:pt modelId="{A78E8469-7251-48DF-B83C-9E021BB22439}" type="pres">
      <dgm:prSet presAssocID="{3B68E91E-78C6-452F-9297-82DF2A6854EE}" presName="spaceBetweenRectangles" presStyleCnt="0"/>
      <dgm:spPr/>
    </dgm:pt>
    <dgm:pt modelId="{55C51CB9-2974-47E5-83A0-7A0B339DCED0}" type="pres">
      <dgm:prSet presAssocID="{DF6DDCAE-1813-42DC-A2DB-AA1BC3835CFF}" presName="parentLin" presStyleCnt="0"/>
      <dgm:spPr/>
    </dgm:pt>
    <dgm:pt modelId="{DB8AA76E-219C-4E4B-A325-11216EC78B81}" type="pres">
      <dgm:prSet presAssocID="{DF6DDCAE-1813-42DC-A2DB-AA1BC3835CFF}" presName="parentLeftMargin" presStyleLbl="node1" presStyleIdx="1" presStyleCnt="4"/>
      <dgm:spPr/>
    </dgm:pt>
    <dgm:pt modelId="{74DF4401-10AD-479C-A51E-31BBD62B3080}" type="pres">
      <dgm:prSet presAssocID="{DF6DDCAE-1813-42DC-A2DB-AA1BC3835CFF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42EAF757-7A20-4C9D-92F6-FB523F3BE235}" type="pres">
      <dgm:prSet presAssocID="{DF6DDCAE-1813-42DC-A2DB-AA1BC3835CFF}" presName="negativeSpace" presStyleCnt="0"/>
      <dgm:spPr/>
    </dgm:pt>
    <dgm:pt modelId="{E60BF90B-6CB8-47B4-8857-565F5EC5E34C}" type="pres">
      <dgm:prSet presAssocID="{DF6DDCAE-1813-42DC-A2DB-AA1BC3835CFF}" presName="childText" presStyleLbl="conFgAcc1" presStyleIdx="2" presStyleCnt="4">
        <dgm:presLayoutVars>
          <dgm:bulletEnabled val="1"/>
        </dgm:presLayoutVars>
      </dgm:prSet>
      <dgm:spPr/>
    </dgm:pt>
    <dgm:pt modelId="{D36F5850-A490-43AB-BCEB-9271DE96D9F8}" type="pres">
      <dgm:prSet presAssocID="{31A5B53D-0B3D-4A60-A7DA-A7B21EDF9C24}" presName="spaceBetweenRectangles" presStyleCnt="0"/>
      <dgm:spPr/>
    </dgm:pt>
    <dgm:pt modelId="{93E033CE-1360-4DDB-A9D4-771C96231A3A}" type="pres">
      <dgm:prSet presAssocID="{7ADD945C-FCE7-4380-A1B3-4D5D85CE2EE1}" presName="parentLin" presStyleCnt="0"/>
      <dgm:spPr/>
    </dgm:pt>
    <dgm:pt modelId="{BACAE2B0-11DB-4EF7-9116-2A2CCF351B3C}" type="pres">
      <dgm:prSet presAssocID="{7ADD945C-FCE7-4380-A1B3-4D5D85CE2EE1}" presName="parentLeftMargin" presStyleLbl="node1" presStyleIdx="2" presStyleCnt="4"/>
      <dgm:spPr/>
    </dgm:pt>
    <dgm:pt modelId="{EB3A8D58-0A8A-4763-8B35-1233E615C11D}" type="pres">
      <dgm:prSet presAssocID="{7ADD945C-FCE7-4380-A1B3-4D5D85CE2EE1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0354C8B3-FE80-49C3-BA84-16281BFDC9E9}" type="pres">
      <dgm:prSet presAssocID="{7ADD945C-FCE7-4380-A1B3-4D5D85CE2EE1}" presName="negativeSpace" presStyleCnt="0"/>
      <dgm:spPr/>
    </dgm:pt>
    <dgm:pt modelId="{53B91F08-9927-43DF-91E5-F141F26A2678}" type="pres">
      <dgm:prSet presAssocID="{7ADD945C-FCE7-4380-A1B3-4D5D85CE2EE1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3790B263-FB71-444E-8D12-678F5E67681E}" type="presOf" srcId="{CBBD84F7-12D4-48C7-A8EB-A7A3A8DD5EFE}" destId="{E60BF90B-6CB8-47B4-8857-565F5EC5E34C}" srcOrd="0" destOrd="0" presId="urn:microsoft.com/office/officeart/2005/8/layout/list1"/>
    <dgm:cxn modelId="{E64EE643-82B2-463E-A1F9-4D8F5F72CB14}" srcId="{59C76407-1991-437F-B10C-6FE9874C7366}" destId="{DF6DDCAE-1813-42DC-A2DB-AA1BC3835CFF}" srcOrd="2" destOrd="0" parTransId="{74921437-31AB-4AC0-A30D-11542E907EB4}" sibTransId="{31A5B53D-0B3D-4A60-A7DA-A7B21EDF9C24}"/>
    <dgm:cxn modelId="{E2C9DA49-1AAF-4F16-8345-4A6B69296A57}" srcId="{59C76407-1991-437F-B10C-6FE9874C7366}" destId="{7ADD945C-FCE7-4380-A1B3-4D5D85CE2EE1}" srcOrd="3" destOrd="0" parTransId="{EA129802-9A31-47CB-B815-A6EAA752263D}" sibTransId="{AA4E7FB2-E3D7-45DA-AFA2-D5BFB519EFCF}"/>
    <dgm:cxn modelId="{97FBAB51-784C-47A7-9CA8-374156CA339C}" type="presOf" srcId="{B13D9B16-1B4D-460A-BC6F-14C6FA0BC449}" destId="{E60BF90B-6CB8-47B4-8857-565F5EC5E34C}" srcOrd="0" destOrd="1" presId="urn:microsoft.com/office/officeart/2005/8/layout/list1"/>
    <dgm:cxn modelId="{CD51D28F-FBED-4862-833F-504716AC2F10}" srcId="{DF6DDCAE-1813-42DC-A2DB-AA1BC3835CFF}" destId="{CBBD84F7-12D4-48C7-A8EB-A7A3A8DD5EFE}" srcOrd="0" destOrd="0" parTransId="{3B433CFD-0DB4-4FC5-AEBB-694BD78417BB}" sibTransId="{3D74CEEB-AD8A-424D-BE46-F2614EC338E3}"/>
    <dgm:cxn modelId="{5ED36B91-0810-4687-AE23-74723000B805}" type="presOf" srcId="{A946EAF8-C494-4ADB-AACA-9FAC561C90B3}" destId="{5E1A49BE-698C-486F-A490-56D90753C820}" srcOrd="0" destOrd="0" presId="urn:microsoft.com/office/officeart/2005/8/layout/list1"/>
    <dgm:cxn modelId="{F7118993-7450-4C4C-9FC4-56C2FB4A6375}" type="presOf" srcId="{DF6DDCAE-1813-42DC-A2DB-AA1BC3835CFF}" destId="{74DF4401-10AD-479C-A51E-31BBD62B3080}" srcOrd="1" destOrd="0" presId="urn:microsoft.com/office/officeart/2005/8/layout/list1"/>
    <dgm:cxn modelId="{84B29499-ADF3-4554-B980-8397AF2B31C2}" type="presOf" srcId="{9B4CF8E9-FB75-42A9-91C8-F882D8B32B29}" destId="{256856EF-17F1-465B-A9F5-5C8B8A9DF82D}" srcOrd="1" destOrd="0" presId="urn:microsoft.com/office/officeart/2005/8/layout/list1"/>
    <dgm:cxn modelId="{2C90B7A1-A0B2-4349-8DD9-B9EA49893FC9}" srcId="{DF6DDCAE-1813-42DC-A2DB-AA1BC3835CFF}" destId="{B13D9B16-1B4D-460A-BC6F-14C6FA0BC449}" srcOrd="1" destOrd="0" parTransId="{3105E9F3-7241-4646-9F74-91A61A5D0340}" sibTransId="{38B0BB55-F934-42B8-8DA0-E48F1F017A79}"/>
    <dgm:cxn modelId="{C3825FA9-A52B-40C0-A475-60881F61A11E}" type="presOf" srcId="{7ADD945C-FCE7-4380-A1B3-4D5D85CE2EE1}" destId="{BACAE2B0-11DB-4EF7-9116-2A2CCF351B3C}" srcOrd="0" destOrd="0" presId="urn:microsoft.com/office/officeart/2005/8/layout/list1"/>
    <dgm:cxn modelId="{467AC8B0-CB0D-43F5-A75A-78CB51387960}" type="presOf" srcId="{A946EAF8-C494-4ADB-AACA-9FAC561C90B3}" destId="{D7AAF1F3-300A-4AF7-A8E7-E872219C6C49}" srcOrd="1" destOrd="0" presId="urn:microsoft.com/office/officeart/2005/8/layout/list1"/>
    <dgm:cxn modelId="{1B3B37B3-2291-4AEE-8191-FFA2A19314F2}" type="presOf" srcId="{7ADD945C-FCE7-4380-A1B3-4D5D85CE2EE1}" destId="{EB3A8D58-0A8A-4763-8B35-1233E615C11D}" srcOrd="1" destOrd="0" presId="urn:microsoft.com/office/officeart/2005/8/layout/list1"/>
    <dgm:cxn modelId="{32D7F5C1-E22A-45B9-B4B6-8D9C7C94D7D3}" srcId="{59C76407-1991-437F-B10C-6FE9874C7366}" destId="{9B4CF8E9-FB75-42A9-91C8-F882D8B32B29}" srcOrd="0" destOrd="0" parTransId="{6526EF34-B4F7-4FA6-8F78-AE62D283F0B6}" sibTransId="{ECB85F6B-2F8E-41EC-B84D-6D561159EEAE}"/>
    <dgm:cxn modelId="{A30601C9-D9D1-4A36-BF02-172BDF441116}" type="presOf" srcId="{9B4CF8E9-FB75-42A9-91C8-F882D8B32B29}" destId="{7B0F76D1-98FE-4BF3-9A14-12B1E282D104}" srcOrd="0" destOrd="0" presId="urn:microsoft.com/office/officeart/2005/8/layout/list1"/>
    <dgm:cxn modelId="{C8E4F9D5-33D7-4E0E-BA3A-D1A4B3388BCD}" type="presOf" srcId="{59C76407-1991-437F-B10C-6FE9874C7366}" destId="{DAF5A489-B749-42EB-96FA-CF59D26286F0}" srcOrd="0" destOrd="0" presId="urn:microsoft.com/office/officeart/2005/8/layout/list1"/>
    <dgm:cxn modelId="{45B0ACDA-0EF0-4E77-946D-D9FAEA67C922}" type="presOf" srcId="{DF6DDCAE-1813-42DC-A2DB-AA1BC3835CFF}" destId="{DB8AA76E-219C-4E4B-A325-11216EC78B81}" srcOrd="0" destOrd="0" presId="urn:microsoft.com/office/officeart/2005/8/layout/list1"/>
    <dgm:cxn modelId="{EC3099E2-DD32-4968-88BD-CFC701620D59}" srcId="{59C76407-1991-437F-B10C-6FE9874C7366}" destId="{A946EAF8-C494-4ADB-AACA-9FAC561C90B3}" srcOrd="1" destOrd="0" parTransId="{1FBF8CC7-AC62-43FF-B97A-817CFDEED71E}" sibTransId="{3B68E91E-78C6-452F-9297-82DF2A6854EE}"/>
    <dgm:cxn modelId="{63A11741-7E8E-4504-9F6B-B6A30BF69F7B}" type="presParOf" srcId="{DAF5A489-B749-42EB-96FA-CF59D26286F0}" destId="{852AC96C-8D26-42A8-BE24-571BE0CE19EA}" srcOrd="0" destOrd="0" presId="urn:microsoft.com/office/officeart/2005/8/layout/list1"/>
    <dgm:cxn modelId="{AE2FCB14-6C5F-4675-B030-711AF34176E0}" type="presParOf" srcId="{852AC96C-8D26-42A8-BE24-571BE0CE19EA}" destId="{7B0F76D1-98FE-4BF3-9A14-12B1E282D104}" srcOrd="0" destOrd="0" presId="urn:microsoft.com/office/officeart/2005/8/layout/list1"/>
    <dgm:cxn modelId="{2BE56F88-6D46-4955-866C-F2AA3804BA69}" type="presParOf" srcId="{852AC96C-8D26-42A8-BE24-571BE0CE19EA}" destId="{256856EF-17F1-465B-A9F5-5C8B8A9DF82D}" srcOrd="1" destOrd="0" presId="urn:microsoft.com/office/officeart/2005/8/layout/list1"/>
    <dgm:cxn modelId="{CF2E6F7A-06A7-49C4-9984-119B3A76A6E5}" type="presParOf" srcId="{DAF5A489-B749-42EB-96FA-CF59D26286F0}" destId="{B5BA85DE-C3F8-45DE-8044-A3FF6B7198DF}" srcOrd="1" destOrd="0" presId="urn:microsoft.com/office/officeart/2005/8/layout/list1"/>
    <dgm:cxn modelId="{C9632CC9-BB4F-4D2E-964F-F4CED8C49910}" type="presParOf" srcId="{DAF5A489-B749-42EB-96FA-CF59D26286F0}" destId="{602D7AF8-9175-42E9-BBA1-49A80BAD52DD}" srcOrd="2" destOrd="0" presId="urn:microsoft.com/office/officeart/2005/8/layout/list1"/>
    <dgm:cxn modelId="{C88C4C76-B789-461A-ADC9-9273226FFADC}" type="presParOf" srcId="{DAF5A489-B749-42EB-96FA-CF59D26286F0}" destId="{4419AD8E-E774-4154-8651-A5C9DA28E7B1}" srcOrd="3" destOrd="0" presId="urn:microsoft.com/office/officeart/2005/8/layout/list1"/>
    <dgm:cxn modelId="{21E6A78C-BFC6-48B3-B15E-D051517B7FB3}" type="presParOf" srcId="{DAF5A489-B749-42EB-96FA-CF59D26286F0}" destId="{86D48F75-042F-4F62-9486-F2E81B41CE65}" srcOrd="4" destOrd="0" presId="urn:microsoft.com/office/officeart/2005/8/layout/list1"/>
    <dgm:cxn modelId="{66D9C6BB-8FFA-4EF4-8835-796646F6340D}" type="presParOf" srcId="{86D48F75-042F-4F62-9486-F2E81B41CE65}" destId="{5E1A49BE-698C-486F-A490-56D90753C820}" srcOrd="0" destOrd="0" presId="urn:microsoft.com/office/officeart/2005/8/layout/list1"/>
    <dgm:cxn modelId="{EA7C6117-C903-47D4-A27B-37645E006463}" type="presParOf" srcId="{86D48F75-042F-4F62-9486-F2E81B41CE65}" destId="{D7AAF1F3-300A-4AF7-A8E7-E872219C6C49}" srcOrd="1" destOrd="0" presId="urn:microsoft.com/office/officeart/2005/8/layout/list1"/>
    <dgm:cxn modelId="{07C8C9F4-490B-4DB8-ACF0-7C397E39E990}" type="presParOf" srcId="{DAF5A489-B749-42EB-96FA-CF59D26286F0}" destId="{75E6D8CF-C5BC-45C1-A534-84712A6169C5}" srcOrd="5" destOrd="0" presId="urn:microsoft.com/office/officeart/2005/8/layout/list1"/>
    <dgm:cxn modelId="{192F3E36-2A1F-42D6-966C-A80C3D0AC678}" type="presParOf" srcId="{DAF5A489-B749-42EB-96FA-CF59D26286F0}" destId="{6031F898-206E-47EE-84E0-4733FB4C9841}" srcOrd="6" destOrd="0" presId="urn:microsoft.com/office/officeart/2005/8/layout/list1"/>
    <dgm:cxn modelId="{D8194012-69CB-469E-A922-DB3C7B1B1977}" type="presParOf" srcId="{DAF5A489-B749-42EB-96FA-CF59D26286F0}" destId="{A78E8469-7251-48DF-B83C-9E021BB22439}" srcOrd="7" destOrd="0" presId="urn:microsoft.com/office/officeart/2005/8/layout/list1"/>
    <dgm:cxn modelId="{981001ED-05C9-4BC8-AA81-423CD8BF524D}" type="presParOf" srcId="{DAF5A489-B749-42EB-96FA-CF59D26286F0}" destId="{55C51CB9-2974-47E5-83A0-7A0B339DCED0}" srcOrd="8" destOrd="0" presId="urn:microsoft.com/office/officeart/2005/8/layout/list1"/>
    <dgm:cxn modelId="{0C5AA705-C54A-4933-99F8-EE3B3387452E}" type="presParOf" srcId="{55C51CB9-2974-47E5-83A0-7A0B339DCED0}" destId="{DB8AA76E-219C-4E4B-A325-11216EC78B81}" srcOrd="0" destOrd="0" presId="urn:microsoft.com/office/officeart/2005/8/layout/list1"/>
    <dgm:cxn modelId="{DDD39FFF-1BED-4286-99E9-8639F439B680}" type="presParOf" srcId="{55C51CB9-2974-47E5-83A0-7A0B339DCED0}" destId="{74DF4401-10AD-479C-A51E-31BBD62B3080}" srcOrd="1" destOrd="0" presId="urn:microsoft.com/office/officeart/2005/8/layout/list1"/>
    <dgm:cxn modelId="{762723E8-F07C-4790-A0F2-4DDC4931994F}" type="presParOf" srcId="{DAF5A489-B749-42EB-96FA-CF59D26286F0}" destId="{42EAF757-7A20-4C9D-92F6-FB523F3BE235}" srcOrd="9" destOrd="0" presId="urn:microsoft.com/office/officeart/2005/8/layout/list1"/>
    <dgm:cxn modelId="{D6F30F5B-A8C0-48F7-87E3-943051E229F4}" type="presParOf" srcId="{DAF5A489-B749-42EB-96FA-CF59D26286F0}" destId="{E60BF90B-6CB8-47B4-8857-565F5EC5E34C}" srcOrd="10" destOrd="0" presId="urn:microsoft.com/office/officeart/2005/8/layout/list1"/>
    <dgm:cxn modelId="{B291E3A3-C50D-4644-B280-0E71E55E30BB}" type="presParOf" srcId="{DAF5A489-B749-42EB-96FA-CF59D26286F0}" destId="{D36F5850-A490-43AB-BCEB-9271DE96D9F8}" srcOrd="11" destOrd="0" presId="urn:microsoft.com/office/officeart/2005/8/layout/list1"/>
    <dgm:cxn modelId="{15545CA6-1269-4F16-AED5-CF0BBCC8D2F5}" type="presParOf" srcId="{DAF5A489-B749-42EB-96FA-CF59D26286F0}" destId="{93E033CE-1360-4DDB-A9D4-771C96231A3A}" srcOrd="12" destOrd="0" presId="urn:microsoft.com/office/officeart/2005/8/layout/list1"/>
    <dgm:cxn modelId="{D12C2050-6F19-408C-A6DD-FA91DB6A60F6}" type="presParOf" srcId="{93E033CE-1360-4DDB-A9D4-771C96231A3A}" destId="{BACAE2B0-11DB-4EF7-9116-2A2CCF351B3C}" srcOrd="0" destOrd="0" presId="urn:microsoft.com/office/officeart/2005/8/layout/list1"/>
    <dgm:cxn modelId="{E41B6EF3-31F2-4149-ADBF-81B1C5775705}" type="presParOf" srcId="{93E033CE-1360-4DDB-A9D4-771C96231A3A}" destId="{EB3A8D58-0A8A-4763-8B35-1233E615C11D}" srcOrd="1" destOrd="0" presId="urn:microsoft.com/office/officeart/2005/8/layout/list1"/>
    <dgm:cxn modelId="{54C287B2-541F-4CEB-9A0A-2D204305A25E}" type="presParOf" srcId="{DAF5A489-B749-42EB-96FA-CF59D26286F0}" destId="{0354C8B3-FE80-49C3-BA84-16281BFDC9E9}" srcOrd="13" destOrd="0" presId="urn:microsoft.com/office/officeart/2005/8/layout/list1"/>
    <dgm:cxn modelId="{A11BB75F-A405-45A6-963F-56A0A8A74FA1}" type="presParOf" srcId="{DAF5A489-B749-42EB-96FA-CF59D26286F0}" destId="{53B91F08-9927-43DF-91E5-F141F26A2678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2D7AF8-9175-42E9-BBA1-49A80BAD52DD}">
      <dsp:nvSpPr>
        <dsp:cNvPr id="0" name=""/>
        <dsp:cNvSpPr/>
      </dsp:nvSpPr>
      <dsp:spPr>
        <a:xfrm>
          <a:off x="0" y="291923"/>
          <a:ext cx="10691811" cy="428400"/>
        </a:xfrm>
        <a:prstGeom prst="rect">
          <a:avLst/>
        </a:prstGeom>
        <a:solidFill>
          <a:schemeClr val="dk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6856EF-17F1-465B-A9F5-5C8B8A9DF82D}">
      <dsp:nvSpPr>
        <dsp:cNvPr id="0" name=""/>
        <dsp:cNvSpPr/>
      </dsp:nvSpPr>
      <dsp:spPr>
        <a:xfrm>
          <a:off x="534590" y="41003"/>
          <a:ext cx="7484268" cy="50184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82888" tIns="0" rIns="282888" bIns="0" numCol="1" spcCol="1270" anchor="ctr" anchorCtr="0">
          <a:noAutofit/>
        </a:bodyPr>
        <a:lstStyle/>
        <a:p>
          <a:pPr marL="0" lvl="0" indent="0" algn="l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1700" kern="1200" dirty="0">
              <a:latin typeface="Calibri"/>
              <a:ea typeface="Calibri"/>
              <a:cs typeface="Calibri"/>
            </a:rPr>
            <a:t>Članovi grupe i uloge</a:t>
          </a:r>
        </a:p>
      </dsp:txBody>
      <dsp:txXfrm>
        <a:off x="559088" y="65501"/>
        <a:ext cx="7435272" cy="452844"/>
      </dsp:txXfrm>
    </dsp:sp>
    <dsp:sp modelId="{6031F898-206E-47EE-84E0-4733FB4C9841}">
      <dsp:nvSpPr>
        <dsp:cNvPr id="0" name=""/>
        <dsp:cNvSpPr/>
      </dsp:nvSpPr>
      <dsp:spPr>
        <a:xfrm>
          <a:off x="0" y="1063043"/>
          <a:ext cx="10691811" cy="428400"/>
        </a:xfrm>
        <a:prstGeom prst="rect">
          <a:avLst/>
        </a:prstGeom>
        <a:solidFill>
          <a:schemeClr val="dk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7AAF1F3-300A-4AF7-A8E7-E872219C6C49}">
      <dsp:nvSpPr>
        <dsp:cNvPr id="0" name=""/>
        <dsp:cNvSpPr/>
      </dsp:nvSpPr>
      <dsp:spPr>
        <a:xfrm>
          <a:off x="534590" y="812123"/>
          <a:ext cx="7484268" cy="50184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82888" tIns="0" rIns="282888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1700" kern="1200" dirty="0">
              <a:latin typeface="Calibri"/>
              <a:ea typeface="Calibri"/>
              <a:cs typeface="Calibri"/>
            </a:rPr>
            <a:t>O projektu</a:t>
          </a:r>
          <a:endParaRPr lang="en-US" sz="1700" kern="1200" dirty="0">
            <a:latin typeface="Calibri"/>
            <a:ea typeface="Calibri"/>
            <a:cs typeface="Calibri"/>
          </a:endParaRPr>
        </a:p>
      </dsp:txBody>
      <dsp:txXfrm>
        <a:off x="559088" y="836621"/>
        <a:ext cx="7435272" cy="452844"/>
      </dsp:txXfrm>
    </dsp:sp>
    <dsp:sp modelId="{E60BF90B-6CB8-47B4-8857-565F5EC5E34C}">
      <dsp:nvSpPr>
        <dsp:cNvPr id="0" name=""/>
        <dsp:cNvSpPr/>
      </dsp:nvSpPr>
      <dsp:spPr>
        <a:xfrm>
          <a:off x="0" y="1834164"/>
          <a:ext cx="10691811" cy="990675"/>
        </a:xfrm>
        <a:prstGeom prst="rect">
          <a:avLst/>
        </a:prstGeom>
        <a:solidFill>
          <a:schemeClr val="dk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9803" tIns="354076" rIns="829803" bIns="120904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r-HR" sz="1700" kern="1200" dirty="0">
              <a:latin typeface="Calibri"/>
              <a:ea typeface="Calibri"/>
              <a:cs typeface="Calibri"/>
            </a:rPr>
            <a:t>Funkcionalni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r-HR" sz="1700" kern="1200" dirty="0">
              <a:latin typeface="Calibri"/>
              <a:ea typeface="Calibri"/>
              <a:cs typeface="Calibri"/>
            </a:rPr>
            <a:t>Nefunkcionalni</a:t>
          </a:r>
          <a:endParaRPr lang="en-US" sz="1700" kern="1200" dirty="0">
            <a:latin typeface="Calibri"/>
            <a:ea typeface="Calibri"/>
            <a:cs typeface="Calibri"/>
          </a:endParaRPr>
        </a:p>
      </dsp:txBody>
      <dsp:txXfrm>
        <a:off x="0" y="1834164"/>
        <a:ext cx="10691811" cy="990675"/>
      </dsp:txXfrm>
    </dsp:sp>
    <dsp:sp modelId="{74DF4401-10AD-479C-A51E-31BBD62B3080}">
      <dsp:nvSpPr>
        <dsp:cNvPr id="0" name=""/>
        <dsp:cNvSpPr/>
      </dsp:nvSpPr>
      <dsp:spPr>
        <a:xfrm>
          <a:off x="534590" y="1583243"/>
          <a:ext cx="7484268" cy="50184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82888" tIns="0" rIns="282888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1700" kern="1200" dirty="0">
              <a:latin typeface="Calibri"/>
              <a:ea typeface="Calibri"/>
              <a:cs typeface="Calibri"/>
            </a:rPr>
            <a:t>Pregled zahtjeva:</a:t>
          </a:r>
          <a:endParaRPr lang="en-US" sz="1700" kern="1200" dirty="0">
            <a:latin typeface="Calibri"/>
            <a:ea typeface="Calibri"/>
            <a:cs typeface="Calibri"/>
          </a:endParaRPr>
        </a:p>
      </dsp:txBody>
      <dsp:txXfrm>
        <a:off x="559088" y="1607741"/>
        <a:ext cx="7435272" cy="452844"/>
      </dsp:txXfrm>
    </dsp:sp>
    <dsp:sp modelId="{53B91F08-9927-43DF-91E5-F141F26A2678}">
      <dsp:nvSpPr>
        <dsp:cNvPr id="0" name=""/>
        <dsp:cNvSpPr/>
      </dsp:nvSpPr>
      <dsp:spPr>
        <a:xfrm>
          <a:off x="0" y="3167559"/>
          <a:ext cx="10691811" cy="428400"/>
        </a:xfrm>
        <a:prstGeom prst="rect">
          <a:avLst/>
        </a:prstGeom>
        <a:solidFill>
          <a:schemeClr val="dk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B3A8D58-0A8A-4763-8B35-1233E615C11D}">
      <dsp:nvSpPr>
        <dsp:cNvPr id="0" name=""/>
        <dsp:cNvSpPr/>
      </dsp:nvSpPr>
      <dsp:spPr>
        <a:xfrm>
          <a:off x="534590" y="2916639"/>
          <a:ext cx="7484268" cy="50184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82888" tIns="0" rIns="282888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1700" kern="1200" dirty="0">
              <a:latin typeface="Calibri"/>
              <a:ea typeface="Calibri"/>
              <a:cs typeface="Calibri"/>
            </a:rPr>
            <a:t>Tehnologije</a:t>
          </a:r>
          <a:endParaRPr lang="en-US" sz="1700" kern="1200" dirty="0">
            <a:latin typeface="Calibri"/>
            <a:ea typeface="Calibri"/>
            <a:cs typeface="Calibri"/>
          </a:endParaRPr>
        </a:p>
      </dsp:txBody>
      <dsp:txXfrm>
        <a:off x="559088" y="2941137"/>
        <a:ext cx="7435272" cy="45284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176B3E-6211-472A-9634-470EA31A49A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1DD4C2-1B46-4BBE-8A1A-1536DA311C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002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1DD4C2-1B46-4BBE-8A1A-1536DA311C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4629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1DD4C2-1B46-4BBE-8A1A-1536DA311C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9723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8426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426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75099-B3AD-44D7-919B-BCB6DC3E7F21}" type="datetimeFigureOut">
              <a:rPr lang="en-US" dirty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14064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BF121-2723-4D35-ADA9-215CD054C4BC}" type="datetimeFigureOut">
              <a:rPr lang="en-US" dirty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283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F54BA-4BC6-480F-839C-951A49B248A9}" type="datetimeFigureOut">
              <a:rPr lang="en-US" dirty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7985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22096"/>
            <a:ext cx="10691265" cy="11279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5383" y="2128684"/>
            <a:ext cx="5304417" cy="3844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128684"/>
            <a:ext cx="5219700" cy="3844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D0EA-4726-4440-BF9D-E88296FC3068}" type="datetimeFigureOut">
              <a:rPr lang="en-US" dirty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48645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87" y="929148"/>
            <a:ext cx="10640005" cy="76154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4" y="1681163"/>
            <a:ext cx="5282192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1600" b="1"/>
            </a:lvl2pPr>
            <a:lvl3pPr marL="914400" indent="0">
              <a:buNone/>
              <a:defRPr sz="16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5384" y="2505075"/>
            <a:ext cx="5282192" cy="34237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1600" b="1"/>
            </a:lvl2pPr>
            <a:lvl3pPr marL="914400" indent="0">
              <a:buNone/>
              <a:defRPr sz="16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4237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AD10D-99D1-46B2-A85A-C16850FCF8CF}" type="datetimeFigureOut">
              <a:rPr lang="en-US" dirty="0"/>
              <a:t>1/23/2026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621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67E51-34D6-4E3D-8F41-CC63EA446EDD}" type="datetimeFigureOut">
              <a:rPr lang="en-US" dirty="0"/>
              <a:t>1/23/2026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3719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9E550-CE3F-497F-B953-7DE0932F91C0}" type="datetimeFigureOut">
              <a:rPr lang="en-US" dirty="0"/>
              <a:t>1/23/2026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45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426" y="781665"/>
            <a:ext cx="4093599" cy="1223452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8258" y="2315497"/>
            <a:ext cx="4093599" cy="355349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A0BF4-BAA0-4539-95F2-9C4277F97478}" type="datetimeFigureOut">
              <a:rPr lang="en-US" dirty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669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342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3342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9884E-D945-496C-84BE-49C61F78F9EC}" type="datetimeFigureOut">
              <a:rPr lang="en-US" dirty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6350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115DA-6CBC-4AEF-A85F-371C66916CF8}" type="datetimeFigureOut">
              <a:rPr lang="en-US" dirty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8421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997973"/>
            <a:ext cx="8404122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007E4-95E8-4ABC-B20B-51235318A487}" type="datetimeFigureOut">
              <a:rPr lang="en-US" dirty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231085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22096"/>
            <a:ext cx="10691265" cy="137103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93126"/>
            <a:ext cx="10691265" cy="36360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9259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CD438618-DEE5-47CF-A8B2-A9E090D503CD}" type="datetimeFigureOut">
              <a:rPr lang="en-US" dirty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15383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5215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672">
          <p15:clr>
            <a:srgbClr val="F26B43"/>
          </p15:clr>
        </p15:guide>
        <p15:guide id="4" orient="horz" pos="912">
          <p15:clr>
            <a:srgbClr val="F26B43"/>
          </p15:clr>
        </p15:guide>
        <p15:guide id="5" pos="7176">
          <p15:clr>
            <a:srgbClr val="F26B43"/>
          </p15:clr>
        </p15:guide>
        <p15:guide id="6" pos="504">
          <p15:clr>
            <a:srgbClr val="F26B43"/>
          </p15:clr>
        </p15:guide>
        <p15:guide id="7" orient="horz" pos="3864">
          <p15:clr>
            <a:srgbClr val="F26B43"/>
          </p15:clr>
        </p15:guide>
        <p15:guide id="8" orient="horz" pos="45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50E35-AB37-74F5-E503-2149AC9F4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22803" y="2043724"/>
            <a:ext cx="4103431" cy="1317523"/>
          </a:xfrm>
        </p:spPr>
        <p:txBody>
          <a:bodyPr anchor="b">
            <a:normAutofit/>
          </a:bodyPr>
          <a:lstStyle/>
          <a:p>
            <a:r>
              <a:rPr lang="hr-HR" sz="4800" err="1">
                <a:latin typeface="Univers Condensed"/>
                <a:ea typeface="Microsoft Sans Serif"/>
                <a:cs typeface="Microsoft Sans Serif"/>
              </a:rPr>
              <a:t>PawPal</a:t>
            </a:r>
            <a:endParaRPr lang="en-US" sz="4000" dirty="0">
              <a:latin typeface="Univers Condensed"/>
              <a:ea typeface="Microsoft Sans Serif"/>
              <a:cs typeface="Microsoft Sans Serif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ED7CCC-B943-B902-E5C4-D3A6600038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840946" y="3463233"/>
            <a:ext cx="4103431" cy="331628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r-HR" sz="2000" dirty="0">
                <a:latin typeface="Calibri"/>
                <a:ea typeface="Microsoft Sans Serif"/>
                <a:cs typeface="Microsoft Sans Serif"/>
              </a:rPr>
              <a:t>Tim 13.4 (Sarma)</a:t>
            </a:r>
          </a:p>
          <a:p>
            <a:r>
              <a:rPr lang="hr-HR" sz="2000" dirty="0">
                <a:latin typeface="Calibri"/>
                <a:ea typeface="Microsoft Sans Serif"/>
                <a:cs typeface="Microsoft Sans Serif"/>
              </a:rPr>
              <a:t>Ak. god. 25./26.</a:t>
            </a:r>
            <a:endParaRPr lang="en-US" sz="2000" dirty="0">
              <a:latin typeface="Calibri"/>
              <a:ea typeface="Microsoft Sans Serif"/>
              <a:cs typeface="Microsoft Sans Serif"/>
            </a:endParaRPr>
          </a:p>
        </p:txBody>
      </p:sp>
      <p:sp>
        <p:nvSpPr>
          <p:cNvPr id="10" name="Date Placeholder 4">
            <a:extLst>
              <a:ext uri="{FF2B5EF4-FFF2-40B4-BE49-F238E27FC236}">
                <a16:creationId xmlns:a16="http://schemas.microsoft.com/office/drawing/2014/main" id="{65FE75BC-A786-99D7-6486-7B425E4B657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69448" y="6356350"/>
            <a:ext cx="259259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327B6826-6309-4111-ADA1-AAE3061C5610}" type="datetime1">
              <a:rPr lang="en-US"/>
              <a:pPr>
                <a:spcAft>
                  <a:spcPts val="600"/>
                </a:spcAft>
              </a:pPr>
              <a:t>1/23/2026</a:t>
            </a:fld>
            <a:endParaRPr lang="en-US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ED1DF0A0-5007-0EC2-8F27-CCCF2BECC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15383" y="6356350"/>
            <a:ext cx="4539727" cy="36512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63FD96FD-545F-4106-4E77-C9C03B99A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19012" y="6356350"/>
            <a:ext cx="672354" cy="36512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E30AF5A0-43BB-4336-8627-9123B9144D80}" type="slidenum">
              <a:rPr lang="en-US" dirty="0"/>
              <a:pPr>
                <a:lnSpc>
                  <a:spcPct val="90000"/>
                </a:lnSpc>
                <a:spcAft>
                  <a:spcPts val="600"/>
                </a:spcAft>
              </a:pPr>
              <a:t>1</a:t>
            </a:fld>
            <a:endParaRPr lang="en-US"/>
          </a:p>
        </p:txBody>
      </p:sp>
      <p:pic>
        <p:nvPicPr>
          <p:cNvPr id="6" name="Picture 5" descr="Pets and Their People: Exploring the Human-Animal Bond | Beverly Hills  Veterinary Associates">
            <a:extLst>
              <a:ext uri="{FF2B5EF4-FFF2-40B4-BE49-F238E27FC236}">
                <a16:creationId xmlns:a16="http://schemas.microsoft.com/office/drawing/2014/main" id="{A385832B-F45D-45C8-60C1-DC8C7B9485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8892" y="1068294"/>
            <a:ext cx="3550217" cy="237564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 descr="Golden Retriever Attempting to Carry His Own Leash Couldn't Be More Proud  of Himself - PetHelpful">
            <a:extLst>
              <a:ext uri="{FF2B5EF4-FFF2-40B4-BE49-F238E27FC236}">
                <a16:creationId xmlns:a16="http://schemas.microsoft.com/office/drawing/2014/main" id="{F29C93A7-7A9F-4ABF-C641-953EE273E8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8893" y="3668059"/>
            <a:ext cx="3550216" cy="236444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83011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5E5DC-208D-EC28-07FA-FA37AF195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hr-HR" b="1"/>
              <a:t>Sadržaj</a:t>
            </a:r>
            <a:endParaRPr lang="en-US" b="1"/>
          </a:p>
        </p:txBody>
      </p:sp>
      <p:graphicFrame>
        <p:nvGraphicFramePr>
          <p:cNvPr id="31" name="Content Placeholder 2">
            <a:extLst>
              <a:ext uri="{FF2B5EF4-FFF2-40B4-BE49-F238E27FC236}">
                <a16:creationId xmlns:a16="http://schemas.microsoft.com/office/drawing/2014/main" id="{DA50999F-49B8-58E7-14AC-1062EA3F794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9805372"/>
              </p:ext>
            </p:extLst>
          </p:nvPr>
        </p:nvGraphicFramePr>
        <p:xfrm>
          <a:off x="700088" y="2292350"/>
          <a:ext cx="10691812" cy="3636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8" name="Date Placeholder 3">
            <a:extLst>
              <a:ext uri="{FF2B5EF4-FFF2-40B4-BE49-F238E27FC236}">
                <a16:creationId xmlns:a16="http://schemas.microsoft.com/office/drawing/2014/main" id="{21BE8480-47F0-68B6-8BD5-778221FB1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6E9590CE-484F-4986-B3C6-7A183B8F996A}" type="datetime1">
              <a:pPr>
                <a:spcAft>
                  <a:spcPts val="600"/>
                </a:spcAft>
              </a:pPr>
              <a:t>1/23/2026</a:t>
            </a:fld>
            <a:endParaRPr lang="en-US"/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2A8B34C9-1032-70C5-E1DC-F6ED60842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/>
              <a:t>
              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4B7E3107-FB81-75BD-9E2F-9248EF127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E30AF5A0-43BB-4336-8627-9123B9144D80}" type="slidenum">
              <a:rPr lang="en-US" dirty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247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EE029-894A-6AD5-1C05-49E8157B9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342" y="1066800"/>
            <a:ext cx="4096242" cy="763995"/>
          </a:xfrm>
        </p:spPr>
        <p:txBody>
          <a:bodyPr anchor="b">
            <a:normAutofit/>
          </a:bodyPr>
          <a:lstStyle/>
          <a:p>
            <a:r>
              <a:rPr lang="hr-HR" sz="4000" b="1"/>
              <a:t>Članovi i uloge</a:t>
            </a:r>
            <a:endParaRPr lang="en-US" sz="4000" b="1"/>
          </a:p>
        </p:txBody>
      </p:sp>
      <p:pic>
        <p:nvPicPr>
          <p:cNvPr id="4" name="Picture 3" descr="A group of people using laptops&#10;&#10;AI-generated content may be incorrect.">
            <a:extLst>
              <a:ext uri="{FF2B5EF4-FFF2-40B4-BE49-F238E27FC236}">
                <a16:creationId xmlns:a16="http://schemas.microsoft.com/office/drawing/2014/main" id="{3FF10B2B-D3CC-0D9E-593B-9CFF62D5AD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6009" r="1" b="22143"/>
          <a:stretch>
            <a:fillRect/>
          </a:stretch>
        </p:blipFill>
        <p:spPr>
          <a:xfrm>
            <a:off x="5183188" y="1066800"/>
            <a:ext cx="6172200" cy="4794250"/>
          </a:xfrm>
          <a:prstGeom prst="rect">
            <a:avLst/>
          </a:prstGeom>
          <a:noFill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898246-F877-F3A6-11BB-393765F866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14444" y="2305278"/>
            <a:ext cx="4103431" cy="331628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342900"/>
            <a:r>
              <a:rPr lang="hr-HR" sz="1800">
                <a:latin typeface="Calibri"/>
                <a:ea typeface="Microsoft Sans Serif"/>
                <a:cs typeface="Microsoft Sans Serif"/>
              </a:rPr>
              <a:t>Alan Miljak – </a:t>
            </a:r>
            <a:r>
              <a:rPr lang="hr-HR" sz="1800" err="1">
                <a:latin typeface="Calibri"/>
                <a:ea typeface="Microsoft Sans Serif"/>
                <a:cs typeface="Microsoft Sans Serif"/>
              </a:rPr>
              <a:t>backend</a:t>
            </a:r>
            <a:endParaRPr lang="en-US" sz="1800">
              <a:latin typeface="Calibri"/>
              <a:ea typeface="Microsoft Sans Serif"/>
              <a:cs typeface="Microsoft Sans Serif"/>
            </a:endParaRPr>
          </a:p>
          <a:p>
            <a:pPr marL="342900" indent="-342900"/>
            <a:r>
              <a:rPr lang="hr-HR" sz="1800">
                <a:latin typeface="Calibri"/>
                <a:ea typeface="Microsoft Sans Serif"/>
                <a:cs typeface="Microsoft Sans Serif"/>
              </a:rPr>
              <a:t>Bruno </a:t>
            </a:r>
            <a:r>
              <a:rPr lang="hr-HR" sz="1800" err="1">
                <a:latin typeface="Calibri"/>
                <a:ea typeface="Microsoft Sans Serif"/>
                <a:cs typeface="Microsoft Sans Serif"/>
              </a:rPr>
              <a:t>Cavor</a:t>
            </a:r>
            <a:r>
              <a:rPr lang="hr-HR" sz="1800">
                <a:latin typeface="Calibri"/>
                <a:ea typeface="Microsoft Sans Serif"/>
                <a:cs typeface="Microsoft Sans Serif"/>
              </a:rPr>
              <a:t> – razvoj baze podataka</a:t>
            </a:r>
          </a:p>
          <a:p>
            <a:pPr marL="342900" indent="-342900"/>
            <a:r>
              <a:rPr lang="hr-HR" sz="1800">
                <a:latin typeface="Calibri"/>
                <a:ea typeface="Microsoft Sans Serif"/>
                <a:cs typeface="Microsoft Sans Serif"/>
              </a:rPr>
              <a:t>Antonio Stjepić – razvoj baze podataka</a:t>
            </a:r>
          </a:p>
          <a:p>
            <a:pPr marL="342900" indent="-342900"/>
            <a:r>
              <a:rPr lang="hr-HR" sz="1800">
                <a:latin typeface="Calibri"/>
                <a:ea typeface="Microsoft Sans Serif"/>
                <a:cs typeface="Microsoft Sans Serif"/>
              </a:rPr>
              <a:t>Zvonimir </a:t>
            </a:r>
            <a:r>
              <a:rPr lang="hr-HR" sz="1800" err="1">
                <a:latin typeface="Calibri"/>
                <a:ea typeface="Microsoft Sans Serif"/>
                <a:cs typeface="Microsoft Sans Serif"/>
              </a:rPr>
              <a:t>Sch</a:t>
            </a:r>
            <a:r>
              <a:rPr lang="en-US" sz="1800">
                <a:latin typeface="Calibri"/>
                <a:ea typeface="Microsoft Sans Serif"/>
                <a:cs typeface="Microsoft Sans Serif"/>
              </a:rPr>
              <a:t>ö</a:t>
            </a:r>
            <a:r>
              <a:rPr lang="hr-HR" sz="1800" err="1">
                <a:latin typeface="Calibri"/>
                <a:ea typeface="Microsoft Sans Serif"/>
                <a:cs typeface="Microsoft Sans Serif"/>
              </a:rPr>
              <a:t>nwald</a:t>
            </a:r>
            <a:r>
              <a:rPr lang="hr-HR" sz="1800">
                <a:latin typeface="Calibri"/>
                <a:ea typeface="Microsoft Sans Serif"/>
                <a:cs typeface="Microsoft Sans Serif"/>
              </a:rPr>
              <a:t> – </a:t>
            </a:r>
            <a:r>
              <a:rPr lang="hr-HR" sz="1800" err="1">
                <a:latin typeface="Calibri"/>
                <a:ea typeface="Microsoft Sans Serif"/>
                <a:cs typeface="Microsoft Sans Serif"/>
              </a:rPr>
              <a:t>frontend</a:t>
            </a:r>
            <a:endParaRPr lang="hr-HR" sz="1800">
              <a:latin typeface="Calibri"/>
              <a:ea typeface="Microsoft Sans Serif"/>
              <a:cs typeface="Microsoft Sans Serif"/>
            </a:endParaRPr>
          </a:p>
          <a:p>
            <a:pPr marL="342900" indent="-342900"/>
            <a:r>
              <a:rPr lang="hr-HR" sz="1800">
                <a:latin typeface="Calibri"/>
                <a:ea typeface="Microsoft Sans Serif"/>
                <a:cs typeface="Microsoft Sans Serif"/>
              </a:rPr>
              <a:t>Vid Veselko – </a:t>
            </a:r>
            <a:r>
              <a:rPr lang="hr-HR" sz="1800" err="1">
                <a:latin typeface="Calibri"/>
                <a:ea typeface="Microsoft Sans Serif"/>
                <a:cs typeface="Microsoft Sans Serif"/>
              </a:rPr>
              <a:t>frontend</a:t>
            </a:r>
            <a:endParaRPr lang="hr-HR" sz="1800">
              <a:latin typeface="Calibri"/>
              <a:ea typeface="Microsoft Sans Serif"/>
              <a:cs typeface="Microsoft Sans Serif"/>
            </a:endParaRPr>
          </a:p>
          <a:p>
            <a:pPr marL="342900" indent="-342900"/>
            <a:r>
              <a:rPr lang="hr-HR" sz="1800">
                <a:latin typeface="Calibri"/>
                <a:ea typeface="Microsoft Sans Serif"/>
                <a:cs typeface="Microsoft Sans Serif"/>
              </a:rPr>
              <a:t>Nikola Ivković – voditelj projekta, </a:t>
            </a:r>
            <a:r>
              <a:rPr lang="hr-HR" sz="1800" err="1">
                <a:latin typeface="Calibri"/>
                <a:ea typeface="Microsoft Sans Serif"/>
                <a:cs typeface="Microsoft Sans Serif"/>
              </a:rPr>
              <a:t>backend</a:t>
            </a:r>
            <a:endParaRPr lang="hr-HR" sz="1800">
              <a:latin typeface="Calibri"/>
              <a:ea typeface="Microsoft Sans Serif"/>
              <a:cs typeface="Microsoft Sans Serif"/>
            </a:endParaRPr>
          </a:p>
        </p:txBody>
      </p:sp>
      <p:sp>
        <p:nvSpPr>
          <p:cNvPr id="9" name="Date Placeholder 4">
            <a:extLst>
              <a:ext uri="{FF2B5EF4-FFF2-40B4-BE49-F238E27FC236}">
                <a16:creationId xmlns:a16="http://schemas.microsoft.com/office/drawing/2014/main" id="{DC997D2D-E315-E4BA-F03C-0128BC3E26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69448" y="6356350"/>
            <a:ext cx="259259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0FE626C9-3448-4304-9AD3-1DF00C5D3FE4}" type="datetime1">
              <a:rPr lang="en-US"/>
              <a:pPr>
                <a:spcAft>
                  <a:spcPts val="600"/>
                </a:spcAft>
              </a:pPr>
              <a:t>1/23/2026</a:t>
            </a:fld>
            <a:endParaRPr lang="en-US"/>
          </a:p>
        </p:txBody>
      </p:sp>
      <p:sp>
        <p:nvSpPr>
          <p:cNvPr id="11" name="Footer Placeholder 5">
            <a:extLst>
              <a:ext uri="{FF2B5EF4-FFF2-40B4-BE49-F238E27FC236}">
                <a16:creationId xmlns:a16="http://schemas.microsoft.com/office/drawing/2014/main" id="{BBEBA41D-7B16-633E-416F-B2A82DC70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15383" y="6356350"/>
            <a:ext cx="4539727" cy="36512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13" name="Slide Number Placeholder 6">
            <a:extLst>
              <a:ext uri="{FF2B5EF4-FFF2-40B4-BE49-F238E27FC236}">
                <a16:creationId xmlns:a16="http://schemas.microsoft.com/office/drawing/2014/main" id="{C4580598-C489-B290-EEEC-948885DBE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19012" y="6356350"/>
            <a:ext cx="672354" cy="36512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E30AF5A0-43BB-4336-8627-9123B9144D80}" type="slidenum">
              <a:rPr lang="en-US" dirty="0"/>
              <a:pPr>
                <a:lnSpc>
                  <a:spcPct val="90000"/>
                </a:lnSpc>
                <a:spcAft>
                  <a:spcPts val="600"/>
                </a:spcAft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3331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8056B-DDBF-6AF6-08C5-EA56D4578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223" y="787625"/>
            <a:ext cx="10691265" cy="1127930"/>
          </a:xfrm>
        </p:spPr>
        <p:txBody>
          <a:bodyPr anchor="t">
            <a:normAutofit/>
          </a:bodyPr>
          <a:lstStyle/>
          <a:p>
            <a:r>
              <a:rPr lang="hr-HR" b="1"/>
              <a:t>O projektu</a:t>
            </a:r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4E0D7-8ABE-147A-BA4C-E4E63793E5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8030" y="1712821"/>
            <a:ext cx="4740388" cy="2163532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hr-HR" sz="2100" b="1">
                <a:latin typeface="Calibri"/>
                <a:ea typeface="Calibri"/>
                <a:cs typeface="Calibri"/>
              </a:rPr>
              <a:t>Što aplikacija rješava – ukratko</a:t>
            </a:r>
            <a:endParaRPr lang="en-US" sz="2100" b="1">
              <a:latin typeface="Calibri"/>
              <a:ea typeface="Calibri"/>
              <a:cs typeface="Calibri"/>
            </a:endParaRPr>
          </a:p>
          <a:p>
            <a:pPr marL="457200" lvl="1" indent="0">
              <a:lnSpc>
                <a:spcPct val="100000"/>
              </a:lnSpc>
              <a:buNone/>
            </a:pPr>
            <a:r>
              <a:rPr lang="hr-HR">
                <a:latin typeface="Calibri"/>
                <a:ea typeface="+mn-lt"/>
                <a:cs typeface="+mn-lt"/>
              </a:rPr>
              <a:t>Aplikacija </a:t>
            </a:r>
            <a:r>
              <a:rPr lang="hr-HR" err="1">
                <a:latin typeface="Calibri"/>
                <a:ea typeface="+mn-lt"/>
                <a:cs typeface="+mn-lt"/>
              </a:rPr>
              <a:t>PawPal</a:t>
            </a:r>
            <a:r>
              <a:rPr lang="hr-HR">
                <a:latin typeface="Calibri"/>
                <a:ea typeface="+mn-lt"/>
                <a:cs typeface="+mn-lt"/>
              </a:rPr>
              <a:t> rješava problem nedostatka vremena i povjerenja kod vlasnika pasa koji trebaju pouzdane šetače. Omogućuje jednostavno povezivanje vlasnika i provjerenih šetača pasa putem web platforme</a:t>
            </a:r>
            <a:endParaRPr lang="hr-HR">
              <a:latin typeface="Calibri"/>
              <a:ea typeface="Calibri"/>
              <a:cs typeface="Calibri"/>
            </a:endParaRPr>
          </a:p>
          <a:p>
            <a:pPr>
              <a:lnSpc>
                <a:spcPct val="100000"/>
              </a:lnSpc>
            </a:pPr>
            <a:endParaRPr lang="hr-HR" sz="1400" b="1">
              <a:latin typeface="Calibri"/>
              <a:ea typeface="Calibri"/>
              <a:cs typeface="Calibri"/>
            </a:endParaRPr>
          </a:p>
          <a:p>
            <a:pPr>
              <a:lnSpc>
                <a:spcPct val="100000"/>
              </a:lnSpc>
            </a:pPr>
            <a:endParaRPr lang="hr-HR" altLang="sr-Latn-RS" sz="1400" b="1">
              <a:latin typeface="Calibri"/>
              <a:ea typeface="Calibri"/>
              <a:cs typeface="Calibri"/>
            </a:endParaRP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157EC8B0-C8B7-6C95-97C4-5615CC6D56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51680" y="1712821"/>
            <a:ext cx="4330701" cy="174518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hr-HR" sz="2100" b="1">
                <a:latin typeface="Calibri"/>
                <a:ea typeface="Calibri"/>
                <a:cs typeface="Calibri"/>
              </a:rPr>
              <a:t>Postoji li slično rješenje i što je naša prednost?</a:t>
            </a:r>
            <a:endParaRPr lang="en-US" sz="2100">
              <a:latin typeface="Calibri"/>
              <a:ea typeface="Calibri"/>
              <a:cs typeface="Calibri"/>
            </a:endParaRPr>
          </a:p>
          <a:p>
            <a:pPr marL="457200" lvl="1" indent="0">
              <a:lnSpc>
                <a:spcPct val="100000"/>
              </a:lnSpc>
              <a:buNone/>
            </a:pPr>
            <a:r>
              <a:rPr lang="hr-HR">
                <a:latin typeface="Calibri"/>
                <a:ea typeface="Calibri"/>
                <a:cs typeface="Calibri"/>
              </a:rPr>
              <a:t>Postoje </a:t>
            </a:r>
            <a:r>
              <a:rPr lang="hr-HR" err="1">
                <a:latin typeface="Calibri"/>
                <a:ea typeface="Calibri"/>
                <a:cs typeface="Calibri"/>
              </a:rPr>
              <a:t>Wag</a:t>
            </a:r>
            <a:r>
              <a:rPr lang="hr-HR">
                <a:latin typeface="Calibri"/>
                <a:ea typeface="Calibri"/>
                <a:cs typeface="Calibri"/>
              </a:rPr>
              <a:t>! i Rover, no </a:t>
            </a:r>
            <a:r>
              <a:rPr lang="hr-HR" err="1">
                <a:latin typeface="Calibri"/>
                <a:ea typeface="Calibri"/>
                <a:cs typeface="Calibri"/>
              </a:rPr>
              <a:t>PawPal</a:t>
            </a:r>
            <a:r>
              <a:rPr lang="hr-HR">
                <a:latin typeface="Calibri"/>
                <a:ea typeface="Calibri"/>
                <a:cs typeface="Calibri"/>
              </a:rPr>
              <a:t> se izdvaja po sustavu ocjenjivanja i uređivanja rezervacija</a:t>
            </a:r>
            <a:endParaRPr lang="en-US">
              <a:latin typeface="Calibri"/>
              <a:ea typeface="Calibri"/>
              <a:cs typeface="Calibri"/>
            </a:endParaRPr>
          </a:p>
        </p:txBody>
      </p:sp>
      <p:sp>
        <p:nvSpPr>
          <p:cNvPr id="27" name="Date Placeholder 4">
            <a:extLst>
              <a:ext uri="{FF2B5EF4-FFF2-40B4-BE49-F238E27FC236}">
                <a16:creationId xmlns:a16="http://schemas.microsoft.com/office/drawing/2014/main" id="{F285174B-7AA7-45E0-8B70-B8A3E4B118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165BA649-36A6-49EE-8D05-E448C39FBAC3}" type="datetime1">
              <a:pPr>
                <a:spcAft>
                  <a:spcPts val="600"/>
                </a:spcAft>
              </a:pPr>
              <a:t>1/23/2026</a:t>
            </a:fld>
            <a:endParaRPr lang="en-US"/>
          </a:p>
        </p:txBody>
      </p:sp>
      <p:sp>
        <p:nvSpPr>
          <p:cNvPr id="28" name="Footer Placeholder 5">
            <a:extLst>
              <a:ext uri="{FF2B5EF4-FFF2-40B4-BE49-F238E27FC236}">
                <a16:creationId xmlns:a16="http://schemas.microsoft.com/office/drawing/2014/main" id="{DDD2BD61-2FE2-CAF6-D3E3-05AECD4FE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/>
              <a:t>
              </a:t>
            </a:r>
          </a:p>
        </p:txBody>
      </p:sp>
      <p:sp>
        <p:nvSpPr>
          <p:cNvPr id="29" name="Slide Number Placeholder 6">
            <a:extLst>
              <a:ext uri="{FF2B5EF4-FFF2-40B4-BE49-F238E27FC236}">
                <a16:creationId xmlns:a16="http://schemas.microsoft.com/office/drawing/2014/main" id="{715BE9ED-8B9A-98E6-1038-307849A7D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E30AF5A0-43BB-4336-8627-9123B9144D80}" type="slidenum">
              <a:rPr lang="en-US" dirty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A90EC9A-A72E-7A49-E25D-9FC73B88663B}"/>
              </a:ext>
            </a:extLst>
          </p:cNvPr>
          <p:cNvSpPr txBox="1"/>
          <p:nvPr/>
        </p:nvSpPr>
        <p:spPr>
          <a:xfrm>
            <a:off x="3475078" y="3934582"/>
            <a:ext cx="5240619" cy="24186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spcBef>
                <a:spcPts val="1000"/>
              </a:spcBef>
              <a:buFont typeface="Arial"/>
              <a:buChar char="•"/>
            </a:pPr>
            <a:r>
              <a:rPr lang="hr-HR" sz="2100" b="1">
                <a:latin typeface="Calibri"/>
                <a:ea typeface="Calibri"/>
                <a:cs typeface="Calibri"/>
              </a:rPr>
              <a:t>Cilj – svrha i funkcionalnost aplikacije</a:t>
            </a:r>
            <a:endParaRPr lang="en-US" sz="2100">
              <a:latin typeface="Calibri"/>
              <a:ea typeface="Calibri"/>
              <a:cs typeface="Calibri"/>
            </a:endParaRPr>
          </a:p>
          <a:p>
            <a:pPr lvl="1">
              <a:spcBef>
                <a:spcPts val="500"/>
              </a:spcBef>
            </a:pPr>
            <a:r>
              <a:rPr lang="hr-HR">
                <a:latin typeface="Calibri"/>
                <a:ea typeface="Calibri"/>
                <a:cs typeface="Calibri"/>
              </a:rPr>
              <a:t>Cilj aplikacije je stvoriti online platformu za povezivanje vlasnika pasa i šetača kroz fleksibilnu pretragu, transparentno plaćanje, pretraživanje rezervacija, mogućnost otkazivanja istih i međusobnu komunikaciju vlasnika </a:t>
            </a:r>
            <a:r>
              <a:rPr lang="hr-HR" baseline="0">
                <a:latin typeface="Calibri"/>
                <a:ea typeface="Calibri"/>
                <a:cs typeface="Calibri"/>
              </a:rPr>
              <a:t>i </a:t>
            </a:r>
            <a:r>
              <a:rPr lang="hr-HR">
                <a:latin typeface="Calibri"/>
                <a:ea typeface="Calibri"/>
                <a:cs typeface="Calibri"/>
              </a:rPr>
              <a:t>šetača uz sustav ocjenjivanja istih</a:t>
            </a:r>
            <a:endParaRPr lang="en-GB">
              <a:latin typeface="Calibri"/>
              <a:ea typeface="Calibri"/>
              <a:cs typeface="Calibri"/>
            </a:endParaRPr>
          </a:p>
          <a:p>
            <a:endParaRPr lang="en-GB">
              <a:latin typeface="Calibri"/>
              <a:ea typeface="Microsoft Sans Serif"/>
              <a:cs typeface="Microsoft Sans Serif"/>
            </a:endParaRPr>
          </a:p>
        </p:txBody>
      </p:sp>
    </p:spTree>
    <p:extLst>
      <p:ext uri="{BB962C8B-B14F-4D97-AF65-F5344CB8AC3E}">
        <p14:creationId xmlns:p14="http://schemas.microsoft.com/office/powerpoint/2010/main" val="1668048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1F471-D845-A8AF-396B-F37616FEE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hr-HR" b="1"/>
              <a:t>PREGLED ZAHTJEVA</a:t>
            </a:r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0B81BF-CC70-C728-17B8-9C73F20C1C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8535" y="1715935"/>
            <a:ext cx="10683863" cy="480733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hr-HR" sz="2100" b="1" dirty="0">
                <a:latin typeface="Calibri"/>
                <a:ea typeface="Microsoft Sans Serif"/>
                <a:cs typeface="Microsoft Sans Serif"/>
              </a:rPr>
              <a:t>Glavni funkcionalni zahtjevi:</a:t>
            </a:r>
            <a:endParaRPr lang="en-US" dirty="0">
              <a:latin typeface="Calibri"/>
              <a:ea typeface="Microsoft Sans Serif"/>
              <a:cs typeface="Microsoft Sans Serif"/>
            </a:endParaRPr>
          </a:p>
          <a:p>
            <a:pPr lvl="2">
              <a:lnSpc>
                <a:spcPct val="100000"/>
              </a:lnSpc>
            </a:pPr>
            <a:r>
              <a:rPr lang="hr-HR" sz="1800" dirty="0">
                <a:latin typeface="Calibri"/>
                <a:ea typeface="Microsoft Sans Serif"/>
                <a:cs typeface="Microsoft Sans Serif"/>
              </a:rPr>
              <a:t>F1 Autentifikacija</a:t>
            </a:r>
          </a:p>
          <a:p>
            <a:pPr lvl="3">
              <a:lnSpc>
                <a:spcPct val="100000"/>
              </a:lnSpc>
            </a:pPr>
            <a:r>
              <a:rPr lang="hr-HR" sz="1600" dirty="0">
                <a:latin typeface="Calibri"/>
                <a:ea typeface="Microsoft Sans Serif"/>
                <a:cs typeface="Microsoft Sans Serif"/>
              </a:rPr>
              <a:t>Sigurna prijava/registracija Vlasnika i Šetača putem </a:t>
            </a:r>
            <a:r>
              <a:rPr lang="hr-HR" sz="1600" dirty="0" err="1">
                <a:latin typeface="Calibri"/>
                <a:ea typeface="Microsoft Sans Serif"/>
                <a:cs typeface="Microsoft Sans Serif"/>
              </a:rPr>
              <a:t>OAuth</a:t>
            </a:r>
            <a:r>
              <a:rPr lang="hr-HR" sz="1600" dirty="0">
                <a:latin typeface="Calibri"/>
                <a:ea typeface="Microsoft Sans Serif"/>
                <a:cs typeface="Microsoft Sans Serif"/>
              </a:rPr>
              <a:t> 2.0</a:t>
            </a:r>
            <a:endParaRPr lang="hr-HR" sz="1600" dirty="0"/>
          </a:p>
          <a:p>
            <a:pPr lvl="2">
              <a:lnSpc>
                <a:spcPct val="100000"/>
              </a:lnSpc>
            </a:pPr>
            <a:r>
              <a:rPr lang="hr-HR" sz="1800" dirty="0">
                <a:latin typeface="Calibri"/>
                <a:ea typeface="Microsoft Sans Serif"/>
                <a:cs typeface="Microsoft Sans Serif"/>
              </a:rPr>
              <a:t>F2 Upravljanje Profilima</a:t>
            </a:r>
            <a:endParaRPr lang="hr-HR" dirty="0">
              <a:latin typeface="Calisto MT" panose="02040603050505030304"/>
              <a:ea typeface="Microsoft Sans Serif"/>
              <a:cs typeface="Microsoft Sans Serif"/>
            </a:endParaRPr>
          </a:p>
          <a:p>
            <a:pPr lvl="3">
              <a:lnSpc>
                <a:spcPct val="100000"/>
              </a:lnSpc>
            </a:pPr>
            <a:r>
              <a:rPr lang="hr-HR" sz="1600" dirty="0">
                <a:latin typeface="Calibri"/>
                <a:ea typeface="Microsoft Sans Serif"/>
                <a:cs typeface="Microsoft Sans Serif"/>
              </a:rPr>
              <a:t>Vlasnik kreira profile ljubimaca s ključnim informacijama (zdravstvene napomene, socijalizacija). Šetač kreira javni profil s podacima i fotografijama</a:t>
            </a:r>
            <a:endParaRPr lang="hr-HR" sz="1600" dirty="0">
              <a:latin typeface="Calisto MT" panose="02040603050505030304"/>
              <a:ea typeface="Microsoft Sans Serif"/>
              <a:cs typeface="Microsoft Sans Serif"/>
            </a:endParaRPr>
          </a:p>
          <a:p>
            <a:pPr lvl="2">
              <a:lnSpc>
                <a:spcPct val="100000"/>
              </a:lnSpc>
            </a:pPr>
            <a:r>
              <a:rPr lang="hr-HR" sz="1800" dirty="0">
                <a:latin typeface="Calibri"/>
                <a:ea typeface="Microsoft Sans Serif"/>
                <a:cs typeface="Microsoft Sans Serif"/>
              </a:rPr>
              <a:t>F3 Termini i Rezervacije</a:t>
            </a:r>
            <a:endParaRPr lang="hr-HR" dirty="0">
              <a:latin typeface="Calisto MT" panose="02040603050505030304"/>
              <a:ea typeface="Microsoft Sans Serif"/>
              <a:cs typeface="Microsoft Sans Serif"/>
            </a:endParaRPr>
          </a:p>
          <a:p>
            <a:pPr lvl="3">
              <a:lnSpc>
                <a:spcPct val="100000"/>
              </a:lnSpc>
            </a:pPr>
            <a:r>
              <a:rPr lang="hr-HR" sz="1600" dirty="0">
                <a:latin typeface="Calibri"/>
                <a:ea typeface="Microsoft Sans Serif"/>
                <a:cs typeface="Microsoft Sans Serif"/>
              </a:rPr>
              <a:t>Šetač kreira individualne/grupne termine s cijenom. Vlasnik pretražuje (lokacija, cijena, ocjena), rezervira (putem eksternog kalendara) i otkazuje termine (24h prije)</a:t>
            </a:r>
            <a:endParaRPr lang="hr-HR" sz="1600" dirty="0">
              <a:latin typeface="Calisto MT" panose="02040603050505030304"/>
              <a:ea typeface="Microsoft Sans Serif"/>
              <a:cs typeface="Microsoft Sans Serif"/>
            </a:endParaRPr>
          </a:p>
          <a:p>
            <a:pPr lvl="2">
              <a:lnSpc>
                <a:spcPct val="100000"/>
              </a:lnSpc>
            </a:pPr>
            <a:r>
              <a:rPr lang="hr-HR" sz="1800" dirty="0">
                <a:latin typeface="Calibri"/>
                <a:ea typeface="Microsoft Sans Serif"/>
                <a:cs typeface="Microsoft Sans Serif"/>
              </a:rPr>
              <a:t>F4 Odobravanje i Obavijesti</a:t>
            </a:r>
            <a:endParaRPr lang="hr-HR" dirty="0">
              <a:latin typeface="Calisto MT" panose="02040603050505030304"/>
              <a:ea typeface="Microsoft Sans Serif"/>
              <a:cs typeface="Microsoft Sans Serif"/>
            </a:endParaRPr>
          </a:p>
          <a:p>
            <a:pPr lvl="3">
              <a:lnSpc>
                <a:spcPct val="100000"/>
              </a:lnSpc>
            </a:pPr>
            <a:r>
              <a:rPr lang="hr-HR" sz="1600" dirty="0">
                <a:latin typeface="Calibri"/>
                <a:ea typeface="Microsoft Sans Serif"/>
                <a:cs typeface="Microsoft Sans Serif"/>
              </a:rPr>
              <a:t>Šetač prima obavijest o rezervaciji i mora je prihvatiti/odbaci. Vlasnik se može pretplatiti na obavijesti o novim šetačima</a:t>
            </a:r>
            <a:endParaRPr lang="hr-HR" sz="1600" dirty="0">
              <a:latin typeface="Calisto MT" panose="02040603050505030304"/>
              <a:ea typeface="Microsoft Sans Serif"/>
              <a:cs typeface="Microsoft Sans Serif"/>
            </a:endParaRPr>
          </a:p>
          <a:p>
            <a:pPr lvl="2">
              <a:lnSpc>
                <a:spcPct val="100000"/>
              </a:lnSpc>
            </a:pPr>
            <a:endParaRPr lang="hr-HR" sz="1800">
              <a:latin typeface="Calibri"/>
              <a:ea typeface="Microsoft Sans Serif"/>
              <a:cs typeface="Microsoft Sans Serif"/>
            </a:endParaRPr>
          </a:p>
          <a:p>
            <a:pPr marL="457200" lvl="1" indent="0">
              <a:lnSpc>
                <a:spcPct val="100000"/>
              </a:lnSpc>
              <a:buNone/>
            </a:pPr>
            <a:endParaRPr lang="en-US" sz="1100">
              <a:latin typeface="Calibri"/>
              <a:ea typeface="Calibri"/>
              <a:cs typeface="Calibri"/>
            </a:endParaRPr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D159D210-4F46-F8E2-36E8-40B060DC8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51B367AC-8F95-4384-8DE8-EFEB1BC50055}" type="datetime1">
              <a:rPr lang="en-US"/>
              <a:pPr>
                <a:spcAft>
                  <a:spcPts val="600"/>
                </a:spcAft>
              </a:pPr>
              <a:t>1/23/2026</a:t>
            </a:fld>
            <a:endParaRPr lang="en-US"/>
          </a:p>
        </p:txBody>
      </p:sp>
      <p:sp>
        <p:nvSpPr>
          <p:cNvPr id="12" name="Footer Placeholder 5">
            <a:extLst>
              <a:ext uri="{FF2B5EF4-FFF2-40B4-BE49-F238E27FC236}">
                <a16:creationId xmlns:a16="http://schemas.microsoft.com/office/drawing/2014/main" id="{2E0555E5-AAAE-F314-F02F-1359E80EC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708E9C68-0044-FB7F-94D5-0E9117D23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E30AF5A0-43BB-4336-8627-9123B9144D80}" type="slidenum">
              <a:rPr lang="en-US" dirty="0"/>
              <a:pPr>
                <a:lnSpc>
                  <a:spcPct val="90000"/>
                </a:lnSpc>
                <a:spcAft>
                  <a:spcPts val="600"/>
                </a:spcAft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442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B2FD116-091E-AA47-E27E-793B0A720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hr-HR" b="1"/>
              <a:t>PREGLED ZAHTJEVA</a:t>
            </a:r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0B778-CAE2-F347-0292-1863BEC40E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800" y="1715934"/>
            <a:ext cx="10553750" cy="4426498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hr-HR" sz="2100" b="1" dirty="0">
                <a:latin typeface="Calibri"/>
                <a:ea typeface="Microsoft Sans Serif"/>
                <a:cs typeface="Microsoft Sans Serif"/>
              </a:rPr>
              <a:t>Glavni funkcionalni zahtjevi:</a:t>
            </a:r>
            <a:endParaRPr lang="en-US" dirty="0">
              <a:latin typeface="Calisto MT"/>
              <a:ea typeface="Microsoft Sans Serif"/>
              <a:cs typeface="Microsoft Sans Serif"/>
            </a:endParaRPr>
          </a:p>
          <a:p>
            <a:pPr lvl="2">
              <a:lnSpc>
                <a:spcPct val="100000"/>
              </a:lnSpc>
            </a:pPr>
            <a:r>
              <a:rPr lang="hr-HR" sz="1800" dirty="0">
                <a:latin typeface="Calibri"/>
                <a:ea typeface="Calibri"/>
                <a:cs typeface="Calibri"/>
              </a:rPr>
              <a:t>F5 Komunikacija</a:t>
            </a:r>
            <a:endParaRPr lang="en-US" sz="1800">
              <a:latin typeface="Calibri"/>
              <a:ea typeface="Calibri"/>
              <a:cs typeface="Calibri"/>
            </a:endParaRPr>
          </a:p>
          <a:p>
            <a:pPr lvl="3">
              <a:lnSpc>
                <a:spcPct val="100000"/>
              </a:lnSpc>
            </a:pPr>
            <a:r>
              <a:rPr lang="hr-HR" sz="1600" dirty="0">
                <a:latin typeface="Calibri"/>
                <a:ea typeface="Calibri"/>
                <a:cs typeface="Calibri"/>
              </a:rPr>
              <a:t>Implementacija chat kanala (</a:t>
            </a:r>
            <a:r>
              <a:rPr lang="hr-HR" sz="1600" dirty="0" err="1">
                <a:latin typeface="Calibri"/>
                <a:ea typeface="Calibri"/>
                <a:cs typeface="Calibri"/>
              </a:rPr>
              <a:t>FreeChat</a:t>
            </a:r>
            <a:r>
              <a:rPr lang="hr-HR" sz="1600" dirty="0">
                <a:latin typeface="Calibri"/>
                <a:ea typeface="Calibri"/>
                <a:cs typeface="Calibri"/>
              </a:rPr>
              <a:t>) za komunikaciju Vlasnika i Šetača nakon potvrde, uključujući slanje fotografija/teksta tijekom šetnje</a:t>
            </a:r>
            <a:endParaRPr lang="hr-HR"/>
          </a:p>
          <a:p>
            <a:pPr lvl="2">
              <a:lnSpc>
                <a:spcPct val="100000"/>
              </a:lnSpc>
            </a:pPr>
            <a:r>
              <a:rPr lang="hr-HR" sz="1800" dirty="0">
                <a:latin typeface="Calibri"/>
                <a:ea typeface="Calibri"/>
                <a:cs typeface="Calibri"/>
              </a:rPr>
              <a:t>F6 Plaćanje</a:t>
            </a:r>
            <a:endParaRPr lang="hr-HR"/>
          </a:p>
          <a:p>
            <a:pPr lvl="3">
              <a:lnSpc>
                <a:spcPct val="100000"/>
              </a:lnSpc>
            </a:pPr>
            <a:r>
              <a:rPr lang="hr-HR" sz="1600" dirty="0">
                <a:latin typeface="Calibri"/>
                <a:ea typeface="Calibri"/>
                <a:cs typeface="Calibri"/>
              </a:rPr>
              <a:t>Naplata članarine Šetačima (mjesečna/godišnja) i plaćanje šetnji (Vlasnik) putem PayPal, kreditne kartice (eksterni servis) ili gotovine</a:t>
            </a:r>
            <a:endParaRPr lang="hr-HR" sz="1600"/>
          </a:p>
          <a:p>
            <a:pPr lvl="2">
              <a:lnSpc>
                <a:spcPct val="100000"/>
              </a:lnSpc>
            </a:pPr>
            <a:r>
              <a:rPr lang="hr-HR" sz="1800" dirty="0">
                <a:latin typeface="Calibri"/>
                <a:ea typeface="Calibri"/>
                <a:cs typeface="Calibri"/>
              </a:rPr>
              <a:t>F7 Ocjene i Recenzije</a:t>
            </a:r>
            <a:endParaRPr lang="hr-HR">
              <a:latin typeface="Calisto MT" panose="02040603050505030304"/>
              <a:ea typeface="Calibri"/>
              <a:cs typeface="Calibri"/>
            </a:endParaRPr>
          </a:p>
          <a:p>
            <a:pPr lvl="3">
              <a:lnSpc>
                <a:spcPct val="100000"/>
              </a:lnSpc>
            </a:pPr>
            <a:r>
              <a:rPr lang="hr-HR" sz="1600" dirty="0">
                <a:latin typeface="Calibri"/>
                <a:ea typeface="Calibri"/>
                <a:cs typeface="Calibri"/>
              </a:rPr>
              <a:t>Vlasnik ocjenjuje Šetača (1-5) i ostavlja recenziju/fotografiju. Sustav izračunava i prikazuje prosječnu ocjenu</a:t>
            </a:r>
            <a:endParaRPr lang="hr-HR" sz="1600">
              <a:latin typeface="Calisto MT" panose="02040603050505030304"/>
              <a:ea typeface="Calibri"/>
              <a:cs typeface="Calibri"/>
            </a:endParaRPr>
          </a:p>
          <a:p>
            <a:pPr lvl="2">
              <a:lnSpc>
                <a:spcPct val="100000"/>
              </a:lnSpc>
            </a:pPr>
            <a:r>
              <a:rPr lang="hr-HR" sz="1800" dirty="0">
                <a:latin typeface="Calibri"/>
                <a:ea typeface="Calibri"/>
                <a:cs typeface="Calibri"/>
              </a:rPr>
              <a:t>F8 Administracija</a:t>
            </a:r>
            <a:endParaRPr lang="hr-HR">
              <a:latin typeface="Calisto MT" panose="02040603050505030304"/>
              <a:ea typeface="Calibri"/>
              <a:cs typeface="Calibri"/>
            </a:endParaRPr>
          </a:p>
          <a:p>
            <a:pPr lvl="3">
              <a:lnSpc>
                <a:spcPct val="100000"/>
              </a:lnSpc>
            </a:pPr>
            <a:r>
              <a:rPr lang="hr-HR" sz="1600" dirty="0">
                <a:latin typeface="Calibri"/>
                <a:ea typeface="Calibri"/>
                <a:cs typeface="Calibri"/>
              </a:rPr>
              <a:t>Administratori postavljaju cijenu članstva i upravljaju korisničkim profilima</a:t>
            </a:r>
            <a:endParaRPr lang="hr-HR" sz="1600"/>
          </a:p>
          <a:p>
            <a:pPr lvl="2">
              <a:lnSpc>
                <a:spcPct val="100000"/>
              </a:lnSpc>
            </a:pPr>
            <a:endParaRPr lang="hr-HR" sz="1800">
              <a:latin typeface="Calibri"/>
              <a:ea typeface="Calibri"/>
              <a:cs typeface="Calibri"/>
            </a:endParaRPr>
          </a:p>
          <a:p>
            <a:pPr>
              <a:lnSpc>
                <a:spcPct val="100000"/>
              </a:lnSpc>
            </a:pPr>
            <a:endParaRPr lang="hr-HR" sz="1400"/>
          </a:p>
          <a:p>
            <a:pPr>
              <a:lnSpc>
                <a:spcPct val="100000"/>
              </a:lnSpc>
            </a:pPr>
            <a:endParaRPr lang="en-US" sz="1400"/>
          </a:p>
        </p:txBody>
      </p:sp>
      <p:sp>
        <p:nvSpPr>
          <p:cNvPr id="28" name="Date Placeholder 4">
            <a:extLst>
              <a:ext uri="{FF2B5EF4-FFF2-40B4-BE49-F238E27FC236}">
                <a16:creationId xmlns:a16="http://schemas.microsoft.com/office/drawing/2014/main" id="{D8B2FC34-D003-ED13-5016-745F0D8BC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2AE59173-AE9F-4115-97C6-C52AC72B784E}" type="datetime1">
              <a:pPr>
                <a:spcAft>
                  <a:spcPts val="600"/>
                </a:spcAft>
              </a:pPr>
              <a:t>1/23/2026</a:t>
            </a:fld>
            <a:endParaRPr lang="en-US"/>
          </a:p>
        </p:txBody>
      </p:sp>
      <p:sp>
        <p:nvSpPr>
          <p:cNvPr id="29" name="Footer Placeholder 5">
            <a:extLst>
              <a:ext uri="{FF2B5EF4-FFF2-40B4-BE49-F238E27FC236}">
                <a16:creationId xmlns:a16="http://schemas.microsoft.com/office/drawing/2014/main" id="{BBDC7536-DBFA-4669-06CA-1C430FD29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/>
              <a:t>
              </a:t>
            </a:r>
          </a:p>
        </p:txBody>
      </p:sp>
      <p:sp>
        <p:nvSpPr>
          <p:cNvPr id="30" name="Slide Number Placeholder 6">
            <a:extLst>
              <a:ext uri="{FF2B5EF4-FFF2-40B4-BE49-F238E27FC236}">
                <a16:creationId xmlns:a16="http://schemas.microsoft.com/office/drawing/2014/main" id="{D51C1738-9F85-6301-015A-9E8342F6D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E30AF5A0-43BB-4336-8627-9123B9144D80}" type="slidenum">
              <a:rPr lang="en-US" dirty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1199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00355-FAB4-DA15-259F-6796FD9A9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hr-HR" b="1"/>
              <a:t>PREgled zahtjeva</a:t>
            </a:r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6A96AA-EF5F-C5BF-EBED-7133F5391A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800" y="1715934"/>
            <a:ext cx="10691333" cy="4257164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>
              <a:lnSpc>
                <a:spcPct val="100000"/>
              </a:lnSpc>
            </a:pPr>
            <a:r>
              <a:rPr lang="hr-HR" sz="2100" b="1" dirty="0">
                <a:latin typeface="Calibri"/>
                <a:ea typeface="Microsoft Sans Serif"/>
                <a:cs typeface="Microsoft Sans Serif"/>
              </a:rPr>
              <a:t>Glavni nefunkcionalni zahtjevi:</a:t>
            </a:r>
            <a:endParaRPr lang="hr-HR" sz="2100" dirty="0">
              <a:latin typeface="Calibri"/>
              <a:ea typeface="Microsoft Sans Serif"/>
              <a:cs typeface="Microsoft Sans Serif"/>
            </a:endParaRPr>
          </a:p>
          <a:p>
            <a:pPr lvl="1">
              <a:lnSpc>
                <a:spcPct val="100000"/>
              </a:lnSpc>
            </a:pPr>
            <a:r>
              <a:rPr lang="hr-HR" dirty="0">
                <a:latin typeface="Calibri"/>
                <a:ea typeface="Microsoft Sans Serif"/>
                <a:cs typeface="Microsoft Sans Serif"/>
              </a:rPr>
              <a:t>NF1 - Sigurnost</a:t>
            </a:r>
          </a:p>
          <a:p>
            <a:pPr lvl="2">
              <a:lnSpc>
                <a:spcPct val="100000"/>
              </a:lnSpc>
            </a:pPr>
            <a:r>
              <a:rPr lang="hr-HR" sz="1800" dirty="0">
                <a:latin typeface="Calibri"/>
                <a:ea typeface="Microsoft Sans Serif"/>
                <a:cs typeface="Microsoft Sans Serif"/>
              </a:rPr>
              <a:t>Osjetljivi podaci šifrirani modernim algoritmima</a:t>
            </a:r>
          </a:p>
          <a:p>
            <a:pPr lvl="2">
              <a:lnSpc>
                <a:spcPct val="100000"/>
              </a:lnSpc>
            </a:pPr>
            <a:r>
              <a:rPr lang="hr-HR" sz="1800" dirty="0">
                <a:latin typeface="Calibri"/>
                <a:ea typeface="Microsoft Sans Serif"/>
                <a:cs typeface="Microsoft Sans Serif"/>
              </a:rPr>
              <a:t>Zaštita od SQL injekcija i XSS napada</a:t>
            </a:r>
          </a:p>
          <a:p>
            <a:pPr lvl="1">
              <a:lnSpc>
                <a:spcPct val="100000"/>
              </a:lnSpc>
            </a:pPr>
            <a:r>
              <a:rPr lang="hr-HR" dirty="0">
                <a:latin typeface="Calibri"/>
                <a:ea typeface="Microsoft Sans Serif"/>
                <a:cs typeface="Microsoft Sans Serif"/>
              </a:rPr>
              <a:t>NF2 - Dojam korisnika i njegovo iskustvo</a:t>
            </a:r>
          </a:p>
          <a:p>
            <a:pPr lvl="2">
              <a:lnSpc>
                <a:spcPct val="100000"/>
              </a:lnSpc>
            </a:pPr>
            <a:r>
              <a:rPr lang="hr-HR" sz="1800" dirty="0">
                <a:latin typeface="Calibri"/>
                <a:ea typeface="Microsoft Sans Serif"/>
                <a:cs typeface="Microsoft Sans Serif"/>
              </a:rPr>
              <a:t>Intuitivan dizajn jednostavan za snalaženje</a:t>
            </a:r>
          </a:p>
          <a:p>
            <a:pPr lvl="2">
              <a:lnSpc>
                <a:spcPct val="100000"/>
              </a:lnSpc>
            </a:pPr>
            <a:r>
              <a:rPr lang="hr-HR" sz="1800" dirty="0" err="1">
                <a:latin typeface="Calibri"/>
                <a:ea typeface="Microsoft Sans Serif"/>
                <a:cs typeface="Microsoft Sans Serif"/>
              </a:rPr>
              <a:t>Responzivan</a:t>
            </a:r>
            <a:r>
              <a:rPr lang="hr-HR" sz="1800" dirty="0">
                <a:latin typeface="Calibri"/>
                <a:ea typeface="Microsoft Sans Serif"/>
                <a:cs typeface="Microsoft Sans Serif"/>
              </a:rPr>
              <a:t> dizajn</a:t>
            </a:r>
          </a:p>
          <a:p>
            <a:pPr lvl="1">
              <a:lnSpc>
                <a:spcPct val="100000"/>
              </a:lnSpc>
            </a:pPr>
            <a:r>
              <a:rPr lang="hr-HR" dirty="0">
                <a:latin typeface="Calibri"/>
                <a:ea typeface="Microsoft Sans Serif"/>
                <a:cs typeface="Microsoft Sans Serif"/>
              </a:rPr>
              <a:t>NF3 - Web dostupnost</a:t>
            </a:r>
          </a:p>
          <a:p>
            <a:pPr lvl="2">
              <a:lnSpc>
                <a:spcPct val="100000"/>
              </a:lnSpc>
            </a:pPr>
            <a:r>
              <a:rPr lang="hr-HR" sz="1800" dirty="0">
                <a:latin typeface="Calibri"/>
                <a:ea typeface="Microsoft Sans Serif"/>
                <a:cs typeface="Microsoft Sans Serif"/>
              </a:rPr>
              <a:t>Stranica treba raditi u modernim web preglednicima</a:t>
            </a:r>
          </a:p>
          <a:p>
            <a:pPr lvl="1">
              <a:lnSpc>
                <a:spcPct val="100000"/>
              </a:lnSpc>
            </a:pPr>
            <a:r>
              <a:rPr lang="hr-HR" dirty="0">
                <a:latin typeface="Calibri"/>
                <a:ea typeface="Microsoft Sans Serif"/>
                <a:cs typeface="Microsoft Sans Serif"/>
              </a:rPr>
              <a:t>NF4 - Održavanje</a:t>
            </a:r>
          </a:p>
          <a:p>
            <a:pPr lvl="2">
              <a:lnSpc>
                <a:spcPct val="100000"/>
              </a:lnSpc>
            </a:pPr>
            <a:r>
              <a:rPr lang="hr-HR" sz="1800" dirty="0">
                <a:latin typeface="Calibri"/>
                <a:ea typeface="Microsoft Sans Serif"/>
                <a:cs typeface="Microsoft Sans Serif"/>
              </a:rPr>
              <a:t>Mogućnost nadogradnje </a:t>
            </a:r>
            <a:r>
              <a:rPr lang="hr-HR" sz="1800" dirty="0" err="1">
                <a:latin typeface="Calibri"/>
                <a:ea typeface="Microsoft Sans Serif"/>
                <a:cs typeface="Microsoft Sans Serif"/>
              </a:rPr>
              <a:t>backenda</a:t>
            </a:r>
            <a:r>
              <a:rPr lang="hr-HR" sz="1800" dirty="0">
                <a:latin typeface="Calibri"/>
                <a:ea typeface="Microsoft Sans Serif"/>
                <a:cs typeface="Microsoft Sans Serif"/>
              </a:rPr>
              <a:t> i </a:t>
            </a:r>
            <a:r>
              <a:rPr lang="hr-HR" sz="1800" dirty="0" err="1">
                <a:latin typeface="Calibri"/>
                <a:ea typeface="Microsoft Sans Serif"/>
                <a:cs typeface="Microsoft Sans Serif"/>
              </a:rPr>
              <a:t>frontenda</a:t>
            </a:r>
            <a:endParaRPr lang="hr-HR" sz="1800" dirty="0">
              <a:latin typeface="Calibri"/>
              <a:ea typeface="Microsoft Sans Serif"/>
              <a:cs typeface="Microsoft Sans Serif"/>
            </a:endParaRPr>
          </a:p>
          <a:p>
            <a:pPr lvl="1">
              <a:lnSpc>
                <a:spcPct val="100000"/>
              </a:lnSpc>
            </a:pPr>
            <a:r>
              <a:rPr lang="hr-HR" dirty="0">
                <a:latin typeface="Calibri"/>
                <a:ea typeface="Microsoft Sans Serif"/>
                <a:cs typeface="Microsoft Sans Serif"/>
              </a:rPr>
              <a:t>NF5 - Pouzdanost</a:t>
            </a:r>
          </a:p>
          <a:p>
            <a:pPr lvl="2">
              <a:lnSpc>
                <a:spcPct val="100000"/>
              </a:lnSpc>
            </a:pPr>
            <a:r>
              <a:rPr lang="hr-HR" sz="1800" dirty="0">
                <a:latin typeface="Calibri"/>
                <a:ea typeface="Microsoft Sans Serif"/>
                <a:cs typeface="Microsoft Sans Serif"/>
              </a:rPr>
              <a:t>Dostupnost sustava korisnicima većinu vremena </a:t>
            </a:r>
          </a:p>
          <a:p>
            <a:pPr>
              <a:lnSpc>
                <a:spcPct val="100000"/>
              </a:lnSpc>
            </a:pPr>
            <a:endParaRPr lang="en-US" sz="1400"/>
          </a:p>
          <a:p>
            <a:pPr>
              <a:lnSpc>
                <a:spcPct val="100000"/>
              </a:lnSpc>
            </a:pPr>
            <a:endParaRPr lang="hr-HR" sz="1400"/>
          </a:p>
          <a:p>
            <a:pPr>
              <a:lnSpc>
                <a:spcPct val="100000"/>
              </a:lnSpc>
            </a:pPr>
            <a:endParaRPr lang="en-US" sz="1400"/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D35C219A-039B-F491-9728-AE992B613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F5DD70F8-B8E6-4F52-ADC0-574476351D1D}" type="datetime1">
              <a:pPr>
                <a:spcAft>
                  <a:spcPts val="600"/>
                </a:spcAft>
              </a:pPr>
              <a:t>1/23/2026</a:t>
            </a:fld>
            <a:endParaRPr lang="en-US"/>
          </a:p>
        </p:txBody>
      </p:sp>
      <p:sp>
        <p:nvSpPr>
          <p:cNvPr id="12" name="Footer Placeholder 5">
            <a:extLst>
              <a:ext uri="{FF2B5EF4-FFF2-40B4-BE49-F238E27FC236}">
                <a16:creationId xmlns:a16="http://schemas.microsoft.com/office/drawing/2014/main" id="{C5A1B179-5091-E094-2003-2AB828E74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/>
              <a:t>
              </a:t>
            </a:r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B5A05E5C-52CB-FBBD-FF3F-1D6C3C5E4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E30AF5A0-43BB-4336-8627-9123B9144D80}" type="slidenum">
              <a:rPr lang="en-US" dirty="0"/>
              <a:pPr>
                <a:spcAft>
                  <a:spcPts val="600"/>
                </a:spcAft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1763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412B9-B92D-B98A-29BB-9ACEE297C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342" y="1066800"/>
            <a:ext cx="4103431" cy="1317523"/>
          </a:xfrm>
        </p:spPr>
        <p:txBody>
          <a:bodyPr anchor="b">
            <a:normAutofit/>
          </a:bodyPr>
          <a:lstStyle/>
          <a:p>
            <a:r>
              <a:rPr lang="hr-HR" b="1" dirty="0"/>
              <a:t>UML dijagram obrazaca uporabe</a:t>
            </a:r>
            <a:endParaRPr lang="en-US" b="1" dirty="0"/>
          </a:p>
        </p:txBody>
      </p:sp>
      <p:pic>
        <p:nvPicPr>
          <p:cNvPr id="8" name="Content Placeholder 7" descr="A diagram of a diagram&#10;&#10;AI-generated content may be incorrect.">
            <a:extLst>
              <a:ext uri="{FF2B5EF4-FFF2-40B4-BE49-F238E27FC236}">
                <a16:creationId xmlns:a16="http://schemas.microsoft.com/office/drawing/2014/main" id="{4D199B5F-0906-A770-33D5-34261F4BEEBB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3478" r="3" b="1510"/>
          <a:stretch>
            <a:fillRect/>
          </a:stretch>
        </p:blipFill>
        <p:spPr>
          <a:xfrm>
            <a:off x="5183188" y="1066800"/>
            <a:ext cx="6172200" cy="4794250"/>
          </a:xfrm>
          <a:prstGeom prst="rect">
            <a:avLst/>
          </a:prstGeom>
          <a:noFill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01538-6041-4571-AC47-773ADCD18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3342" y="2552700"/>
            <a:ext cx="4103431" cy="331628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hr-HR"/>
              <a:t>Dijagram visoke razine koji prikazuje glavne korisnike i njihove interakcije s aplikacijom.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2D38A2-E45B-AA83-CB7C-4EB4756FBB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69448" y="6356350"/>
            <a:ext cx="259259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396A927-8E08-4411-9F2F-A56A59FD982E}" type="datetime1">
              <a:pPr>
                <a:spcAft>
                  <a:spcPts val="600"/>
                </a:spcAft>
              </a:pPr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CCC9A8-47C1-FB04-66B5-1C99A3C05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15383" y="6356350"/>
            <a:ext cx="4539727" cy="36512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BCF42E-ED9B-9671-3520-434B63FF0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19012" y="6356350"/>
            <a:ext cx="672354" cy="36512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E30AF5A0-43BB-4336-8627-9123B9144D80}" type="slidenum">
              <a:rPr lang="en-US" dirty="0"/>
              <a:pPr>
                <a:lnSpc>
                  <a:spcPct val="90000"/>
                </a:lnSpc>
                <a:spcAft>
                  <a:spcPts val="600"/>
                </a:spcAft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3907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1FE866-C896-F346-1890-CB62CDF3D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815" y="922096"/>
            <a:ext cx="11095217" cy="135266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sz="2800" b="1" dirty="0" err="1">
                <a:highlight>
                  <a:srgbClr val="FFFFFF"/>
                </a:highlight>
              </a:rPr>
              <a:t>Sekvencijski</a:t>
            </a:r>
            <a:r>
              <a:rPr lang="en-GB" sz="2800" b="1" dirty="0">
                <a:highlight>
                  <a:srgbClr val="FFFFFF"/>
                </a:highlight>
              </a:rPr>
              <a:t> </a:t>
            </a:r>
            <a:r>
              <a:rPr lang="en-GB" sz="2800" b="1" dirty="0" err="1">
                <a:highlight>
                  <a:srgbClr val="FFFFFF"/>
                </a:highlight>
              </a:rPr>
              <a:t>dijagram</a:t>
            </a:r>
            <a:r>
              <a:rPr lang="en-GB" sz="2800" b="1" dirty="0">
                <a:highlight>
                  <a:srgbClr val="FFFFFF"/>
                </a:highlight>
              </a:rPr>
              <a:t> </a:t>
            </a:r>
            <a:r>
              <a:rPr lang="en-GB" sz="2800" b="1" dirty="0" err="1">
                <a:highlight>
                  <a:srgbClr val="FFFFFF"/>
                </a:highlight>
              </a:rPr>
              <a:t>usluge</a:t>
            </a:r>
            <a:r>
              <a:rPr lang="en-GB" sz="2800" b="1" dirty="0">
                <a:highlight>
                  <a:srgbClr val="FFFFFF"/>
                </a:highlight>
              </a:rPr>
              <a:t> </a:t>
            </a:r>
            <a:r>
              <a:rPr lang="en-GB" sz="2800" b="1" dirty="0" err="1">
                <a:highlight>
                  <a:srgbClr val="FFFFFF"/>
                </a:highlight>
              </a:rPr>
              <a:t>plaćanja</a:t>
            </a:r>
            <a:r>
              <a:rPr lang="en-GB" sz="2800" b="1" dirty="0">
                <a:highlight>
                  <a:srgbClr val="FFFFFF"/>
                </a:highlight>
              </a:rPr>
              <a:t> </a:t>
            </a:r>
            <a:r>
              <a:rPr lang="en-GB" sz="2800" b="1" dirty="0" err="1">
                <a:highlight>
                  <a:srgbClr val="FFFFFF"/>
                </a:highlight>
              </a:rPr>
              <a:t>i</a:t>
            </a:r>
            <a:r>
              <a:rPr lang="en-GB" sz="2800" b="1" dirty="0">
                <a:highlight>
                  <a:srgbClr val="FFFFFF"/>
                </a:highlight>
              </a:rPr>
              <a:t> </a:t>
            </a:r>
            <a:r>
              <a:rPr lang="en-GB" sz="2800" b="1" dirty="0" err="1">
                <a:highlight>
                  <a:srgbClr val="FFFFFF"/>
                </a:highlight>
              </a:rPr>
              <a:t>rezervacije</a:t>
            </a:r>
            <a:r>
              <a:rPr lang="en-GB" sz="2800" b="1" dirty="0">
                <a:highlight>
                  <a:srgbClr val="FFFFFF"/>
                </a:highlight>
              </a:rPr>
              <a:t> termina</a:t>
            </a:r>
            <a:endParaRPr lang="en-US" sz="2800" b="1"/>
          </a:p>
        </p:txBody>
      </p:sp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122A04F-9450-8BE2-7F60-98AF3D867A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/>
        </p:blipFill>
        <p:spPr>
          <a:xfrm>
            <a:off x="3045346" y="1430138"/>
            <a:ext cx="5368371" cy="4471533"/>
          </a:xfrm>
          <a:prstGeom prst="rect">
            <a:avLst/>
          </a:prstGeom>
          <a:noFill/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0BEBED-D3E4-B493-E63B-B6AA86D005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69448" y="6356350"/>
            <a:ext cx="259259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1C822EA-F2BF-4532-8B19-9F0CDA17ABE7}" type="datetime1">
              <a:pPr>
                <a:spcAft>
                  <a:spcPts val="600"/>
                </a:spcAft>
              </a:pPr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135FC2-8E50-C1E1-F7F3-7BA8C169C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15383" y="6356350"/>
            <a:ext cx="4539727" cy="36512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1CA5B4-C422-670D-445D-EF581F6B0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19012" y="6356350"/>
            <a:ext cx="672354" cy="36512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E30AF5A0-43BB-4336-8627-9123B9144D80}" type="slidenum">
              <a:rPr lang="en-US" dirty="0"/>
              <a:pPr>
                <a:lnSpc>
                  <a:spcPct val="90000"/>
                </a:lnSpc>
                <a:spcAft>
                  <a:spcPts val="600"/>
                </a:spcAft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5095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E6C1B-5B28-011E-8168-7BA70FCED3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995" y="922096"/>
            <a:ext cx="9718109" cy="783464"/>
          </a:xfrm>
        </p:spPr>
        <p:txBody>
          <a:bodyPr>
            <a:normAutofit/>
          </a:bodyPr>
          <a:lstStyle/>
          <a:p>
            <a:r>
              <a:rPr lang="hr-HR" b="1" dirty="0">
                <a:latin typeface="Univers Condensed"/>
              </a:rPr>
              <a:t>Korišteni alati i tehnologije</a:t>
            </a:r>
            <a:endParaRPr lang="en-US" b="1" dirty="0">
              <a:latin typeface="Univers Condensed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325F6B-4AE0-EB24-4682-B5DC727765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8995" y="1540307"/>
            <a:ext cx="10874880" cy="453579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hr-HR" b="1" dirty="0">
              <a:latin typeface="30"/>
            </a:endParaRPr>
          </a:p>
          <a:p>
            <a:r>
              <a:rPr lang="hr-HR" b="1" dirty="0">
                <a:latin typeface="30"/>
                <a:ea typeface="+mn-lt"/>
                <a:cs typeface="+mn-lt"/>
              </a:rPr>
              <a:t>Jezici:</a:t>
            </a:r>
            <a:r>
              <a:rPr lang="hr-HR" dirty="0">
                <a:latin typeface="30"/>
                <a:ea typeface="+mn-lt"/>
                <a:cs typeface="+mn-lt"/>
              </a:rPr>
              <a:t> Python 3.12, JavaScript (Node.js v20+)</a:t>
            </a:r>
            <a:endParaRPr lang="hr-HR" dirty="0">
              <a:latin typeface="30"/>
            </a:endParaRPr>
          </a:p>
          <a:p>
            <a:r>
              <a:rPr lang="hr-HR" b="1" err="1">
                <a:latin typeface="30"/>
                <a:ea typeface="+mn-lt"/>
                <a:cs typeface="+mn-lt"/>
              </a:rPr>
              <a:t>Backend</a:t>
            </a:r>
            <a:r>
              <a:rPr lang="hr-HR" b="1" dirty="0">
                <a:latin typeface="30"/>
                <a:ea typeface="+mn-lt"/>
                <a:cs typeface="+mn-lt"/>
              </a:rPr>
              <a:t>:</a:t>
            </a:r>
            <a:r>
              <a:rPr lang="hr-HR" dirty="0">
                <a:latin typeface="30"/>
                <a:ea typeface="+mn-lt"/>
                <a:cs typeface="+mn-lt"/>
              </a:rPr>
              <a:t> </a:t>
            </a:r>
            <a:r>
              <a:rPr lang="hr-HR" err="1">
                <a:latin typeface="30"/>
                <a:ea typeface="+mn-lt"/>
                <a:cs typeface="+mn-lt"/>
              </a:rPr>
              <a:t>Django</a:t>
            </a:r>
            <a:r>
              <a:rPr lang="hr-HR" dirty="0">
                <a:latin typeface="30"/>
                <a:ea typeface="+mn-lt"/>
                <a:cs typeface="+mn-lt"/>
              </a:rPr>
              <a:t> 5.1.2, </a:t>
            </a:r>
            <a:r>
              <a:rPr lang="hr-HR" err="1">
                <a:latin typeface="30"/>
                <a:ea typeface="+mn-lt"/>
                <a:cs typeface="+mn-lt"/>
              </a:rPr>
              <a:t>Django</a:t>
            </a:r>
            <a:r>
              <a:rPr lang="hr-HR" dirty="0">
                <a:latin typeface="30"/>
                <a:ea typeface="+mn-lt"/>
                <a:cs typeface="+mn-lt"/>
              </a:rPr>
              <a:t> REST Framework, </a:t>
            </a:r>
            <a:r>
              <a:rPr lang="hr-HR" err="1">
                <a:latin typeface="30"/>
                <a:ea typeface="+mn-lt"/>
                <a:cs typeface="+mn-lt"/>
              </a:rPr>
              <a:t>Gunicorn</a:t>
            </a:r>
            <a:r>
              <a:rPr lang="hr-HR" dirty="0">
                <a:latin typeface="30"/>
                <a:ea typeface="+mn-lt"/>
                <a:cs typeface="+mn-lt"/>
              </a:rPr>
              <a:t>, </a:t>
            </a:r>
            <a:r>
              <a:rPr lang="hr-HR" err="1">
                <a:latin typeface="30"/>
                <a:ea typeface="+mn-lt"/>
                <a:cs typeface="+mn-lt"/>
              </a:rPr>
              <a:t>PyJWT</a:t>
            </a:r>
            <a:r>
              <a:rPr lang="hr-HR" dirty="0">
                <a:latin typeface="30"/>
                <a:ea typeface="+mn-lt"/>
                <a:cs typeface="+mn-lt"/>
              </a:rPr>
              <a:t>, </a:t>
            </a:r>
            <a:r>
              <a:rPr lang="hr-HR" err="1">
                <a:latin typeface="30"/>
                <a:ea typeface="+mn-lt"/>
                <a:cs typeface="+mn-lt"/>
              </a:rPr>
              <a:t>Allauth</a:t>
            </a:r>
            <a:endParaRPr lang="hr-HR" err="1">
              <a:latin typeface="30"/>
            </a:endParaRPr>
          </a:p>
          <a:p>
            <a:r>
              <a:rPr lang="hr-HR" b="1" err="1">
                <a:latin typeface="30"/>
                <a:ea typeface="+mn-lt"/>
                <a:cs typeface="+mn-lt"/>
              </a:rPr>
              <a:t>Frontend</a:t>
            </a:r>
            <a:r>
              <a:rPr lang="hr-HR" b="1" dirty="0">
                <a:latin typeface="30"/>
                <a:ea typeface="+mn-lt"/>
                <a:cs typeface="+mn-lt"/>
              </a:rPr>
              <a:t>:</a:t>
            </a:r>
            <a:r>
              <a:rPr lang="hr-HR" dirty="0">
                <a:latin typeface="30"/>
                <a:ea typeface="+mn-lt"/>
                <a:cs typeface="+mn-lt"/>
              </a:rPr>
              <a:t> </a:t>
            </a:r>
            <a:r>
              <a:rPr lang="hr-HR" err="1">
                <a:latin typeface="30"/>
                <a:ea typeface="+mn-lt"/>
                <a:cs typeface="+mn-lt"/>
              </a:rPr>
              <a:t>React</a:t>
            </a:r>
            <a:r>
              <a:rPr lang="hr-HR" dirty="0">
                <a:latin typeface="30"/>
                <a:ea typeface="+mn-lt"/>
                <a:cs typeface="+mn-lt"/>
              </a:rPr>
              <a:t> 19.1.1, </a:t>
            </a:r>
            <a:r>
              <a:rPr lang="hr-HR" err="1">
                <a:latin typeface="30"/>
                <a:ea typeface="+mn-lt"/>
                <a:cs typeface="+mn-lt"/>
              </a:rPr>
              <a:t>React</a:t>
            </a:r>
            <a:r>
              <a:rPr lang="hr-HR" dirty="0">
                <a:latin typeface="30"/>
                <a:ea typeface="+mn-lt"/>
                <a:cs typeface="+mn-lt"/>
              </a:rPr>
              <a:t> </a:t>
            </a:r>
            <a:r>
              <a:rPr lang="hr-HR" err="1">
                <a:latin typeface="30"/>
                <a:ea typeface="+mn-lt"/>
                <a:cs typeface="+mn-lt"/>
              </a:rPr>
              <a:t>Router</a:t>
            </a:r>
            <a:r>
              <a:rPr lang="hr-HR" dirty="0">
                <a:latin typeface="30"/>
                <a:ea typeface="+mn-lt"/>
                <a:cs typeface="+mn-lt"/>
              </a:rPr>
              <a:t> DOM, Vite (SPA)</a:t>
            </a:r>
            <a:endParaRPr lang="en-US">
              <a:latin typeface="30"/>
              <a:ea typeface="+mn-lt"/>
              <a:cs typeface="+mn-lt"/>
            </a:endParaRPr>
          </a:p>
          <a:p>
            <a:r>
              <a:rPr lang="hr-HR" b="1" dirty="0">
                <a:latin typeface="30"/>
                <a:ea typeface="+mn-lt"/>
                <a:cs typeface="+mn-lt"/>
              </a:rPr>
              <a:t>Baza podataka:</a:t>
            </a:r>
            <a:r>
              <a:rPr lang="hr-HR" dirty="0">
                <a:latin typeface="30"/>
                <a:ea typeface="+mn-lt"/>
                <a:cs typeface="+mn-lt"/>
              </a:rPr>
              <a:t> </a:t>
            </a:r>
            <a:r>
              <a:rPr lang="hr-HR" err="1">
                <a:latin typeface="30"/>
                <a:ea typeface="+mn-lt"/>
                <a:cs typeface="+mn-lt"/>
              </a:rPr>
              <a:t>PostgreSQL</a:t>
            </a:r>
            <a:endParaRPr lang="en-US">
              <a:latin typeface="30"/>
              <a:ea typeface="+mn-lt"/>
              <a:cs typeface="+mn-lt"/>
            </a:endParaRPr>
          </a:p>
          <a:p>
            <a:r>
              <a:rPr lang="hr-HR" b="1" dirty="0">
                <a:latin typeface="30"/>
                <a:ea typeface="+mn-lt"/>
                <a:cs typeface="+mn-lt"/>
              </a:rPr>
              <a:t>Alati:</a:t>
            </a:r>
            <a:r>
              <a:rPr lang="hr-HR" dirty="0">
                <a:latin typeface="30"/>
                <a:ea typeface="+mn-lt"/>
                <a:cs typeface="+mn-lt"/>
              </a:rPr>
              <a:t> VS </a:t>
            </a:r>
            <a:r>
              <a:rPr lang="hr-HR" err="1">
                <a:latin typeface="30"/>
                <a:ea typeface="+mn-lt"/>
                <a:cs typeface="+mn-lt"/>
              </a:rPr>
              <a:t>Code</a:t>
            </a:r>
            <a:r>
              <a:rPr lang="hr-HR" dirty="0">
                <a:latin typeface="30"/>
                <a:ea typeface="+mn-lt"/>
                <a:cs typeface="+mn-lt"/>
              </a:rPr>
              <a:t>, </a:t>
            </a:r>
            <a:r>
              <a:rPr lang="hr-HR" err="1">
                <a:latin typeface="30"/>
                <a:ea typeface="+mn-lt"/>
                <a:cs typeface="+mn-lt"/>
              </a:rPr>
              <a:t>Git</a:t>
            </a:r>
            <a:r>
              <a:rPr lang="hr-HR" dirty="0">
                <a:latin typeface="30"/>
                <a:ea typeface="+mn-lt"/>
                <a:cs typeface="+mn-lt"/>
              </a:rPr>
              <a:t>/</a:t>
            </a:r>
            <a:r>
              <a:rPr lang="hr-HR" err="1">
                <a:latin typeface="30"/>
                <a:ea typeface="+mn-lt"/>
                <a:cs typeface="+mn-lt"/>
              </a:rPr>
              <a:t>GitHub</a:t>
            </a:r>
            <a:r>
              <a:rPr lang="hr-HR" dirty="0">
                <a:latin typeface="30"/>
                <a:ea typeface="+mn-lt"/>
                <a:cs typeface="+mn-lt"/>
              </a:rPr>
              <a:t>, </a:t>
            </a:r>
            <a:r>
              <a:rPr lang="hr-HR" err="1">
                <a:latin typeface="30"/>
                <a:ea typeface="+mn-lt"/>
                <a:cs typeface="+mn-lt"/>
              </a:rPr>
              <a:t>Docker</a:t>
            </a:r>
            <a:r>
              <a:rPr lang="hr-HR" dirty="0">
                <a:latin typeface="30"/>
                <a:ea typeface="+mn-lt"/>
                <a:cs typeface="+mn-lt"/>
              </a:rPr>
              <a:t> &amp; </a:t>
            </a:r>
            <a:r>
              <a:rPr lang="hr-HR" err="1">
                <a:latin typeface="30"/>
                <a:ea typeface="+mn-lt"/>
                <a:cs typeface="+mn-lt"/>
              </a:rPr>
              <a:t>Docker</a:t>
            </a:r>
            <a:r>
              <a:rPr lang="hr-HR" dirty="0">
                <a:latin typeface="30"/>
                <a:ea typeface="+mn-lt"/>
                <a:cs typeface="+mn-lt"/>
              </a:rPr>
              <a:t> </a:t>
            </a:r>
            <a:r>
              <a:rPr lang="hr-HR" err="1">
                <a:latin typeface="30"/>
                <a:ea typeface="+mn-lt"/>
                <a:cs typeface="+mn-lt"/>
              </a:rPr>
              <a:t>Compose</a:t>
            </a:r>
            <a:r>
              <a:rPr lang="hr-HR" dirty="0">
                <a:latin typeface="30"/>
                <a:ea typeface="+mn-lt"/>
                <a:cs typeface="+mn-lt"/>
              </a:rPr>
              <a:t>, </a:t>
            </a:r>
            <a:r>
              <a:rPr lang="hr-HR" err="1">
                <a:latin typeface="30"/>
                <a:ea typeface="+mn-lt"/>
                <a:cs typeface="+mn-lt"/>
              </a:rPr>
              <a:t>Discord</a:t>
            </a:r>
            <a:endParaRPr lang="en-US" err="1">
              <a:latin typeface="30"/>
            </a:endParaRPr>
          </a:p>
          <a:p>
            <a:r>
              <a:rPr lang="hr-HR" b="1" dirty="0">
                <a:latin typeface="30"/>
                <a:ea typeface="+mn-lt"/>
                <a:cs typeface="+mn-lt"/>
              </a:rPr>
              <a:t>Integracije:</a:t>
            </a:r>
            <a:r>
              <a:rPr lang="hr-HR" dirty="0">
                <a:latin typeface="30"/>
                <a:ea typeface="+mn-lt"/>
                <a:cs typeface="+mn-lt"/>
              </a:rPr>
              <a:t> PayPal, Stripe, Google </a:t>
            </a:r>
            <a:r>
              <a:rPr lang="hr-HR" err="1">
                <a:latin typeface="30"/>
                <a:ea typeface="+mn-lt"/>
                <a:cs typeface="+mn-lt"/>
              </a:rPr>
              <a:t>OAuth</a:t>
            </a:r>
            <a:r>
              <a:rPr lang="hr-HR" dirty="0">
                <a:latin typeface="30"/>
                <a:ea typeface="+mn-lt"/>
                <a:cs typeface="+mn-lt"/>
              </a:rPr>
              <a:t> 2.0</a:t>
            </a:r>
            <a:endParaRPr lang="hr-HR" dirty="0">
              <a:latin typeface="30"/>
            </a:endParaRPr>
          </a:p>
          <a:p>
            <a:pPr>
              <a:spcBef>
                <a:spcPts val="500"/>
              </a:spcBef>
              <a:spcAft>
                <a:spcPts val="300"/>
              </a:spcAft>
            </a:pPr>
            <a:endParaRPr lang="hr-HR" sz="1700" b="1" dirty="0">
              <a:latin typeface="Franklin Gothic Book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C74BFD-54F9-88F7-6726-EE8DC7C23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817F9-1329-4D14-8DE9-017B4CAE9718}" type="datetime1"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0B5571-43AB-ADBE-289E-99FFD3CC5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28665B-F98F-5639-8E09-399ED38CF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0728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DFEFB-2D9B-3F5B-837E-2C6A750653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815" y="922096"/>
            <a:ext cx="10682085" cy="783464"/>
          </a:xfrm>
        </p:spPr>
        <p:txBody>
          <a:bodyPr/>
          <a:lstStyle/>
          <a:p>
            <a:r>
              <a:rPr lang="en-GB" b="1" err="1"/>
              <a:t>Organizacija</a:t>
            </a:r>
            <a:r>
              <a:rPr lang="en-GB" b="1" dirty="0"/>
              <a:t> rada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517068-2513-4A05-66E8-2D366CE564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8995" y="1714740"/>
            <a:ext cx="10682085" cy="4352184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>
              <a:spcBef>
                <a:spcPts val="500"/>
              </a:spcBef>
              <a:spcAft>
                <a:spcPts val="300"/>
              </a:spcAft>
            </a:pPr>
            <a:r>
              <a:rPr lang="hr-HR" sz="1600" b="1" dirty="0">
                <a:latin typeface="Franklin Gothic Book"/>
              </a:rPr>
              <a:t>Organizacija komunikacije</a:t>
            </a:r>
            <a:endParaRPr lang="hr-HR" sz="1600" dirty="0">
              <a:latin typeface="Franklin Gothic Book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</a:pPr>
            <a:r>
              <a:rPr lang="hr-HR" sz="1400" b="1" dirty="0">
                <a:latin typeface="Franklin Gothic Book"/>
              </a:rPr>
              <a:t>Glavni kanali:</a:t>
            </a:r>
            <a:endParaRPr lang="hr-HR" sz="1400" dirty="0">
              <a:latin typeface="Franklin Gothic Book"/>
            </a:endParaRPr>
          </a:p>
          <a:p>
            <a:pPr lvl="2">
              <a:lnSpc>
                <a:spcPct val="100000"/>
              </a:lnSpc>
              <a:spcBef>
                <a:spcPct val="20000"/>
              </a:spcBef>
              <a:spcAft>
                <a:spcPts val="338"/>
              </a:spcAft>
            </a:pPr>
            <a:r>
              <a:rPr lang="hr-HR" sz="1200" b="1" dirty="0" err="1">
                <a:latin typeface="Franklin Gothic Book"/>
              </a:rPr>
              <a:t>GitHub</a:t>
            </a:r>
            <a:r>
              <a:rPr lang="hr-HR" sz="1200" dirty="0">
                <a:latin typeface="Franklin Gothic Book"/>
              </a:rPr>
              <a:t> – upravljanje zadacima i dokumentacija</a:t>
            </a:r>
            <a:endParaRPr lang="en-US" sz="1200" dirty="0">
              <a:latin typeface="Franklin Gothic Book"/>
            </a:endParaRPr>
          </a:p>
          <a:p>
            <a:pPr lvl="2">
              <a:lnSpc>
                <a:spcPct val="100000"/>
              </a:lnSpc>
              <a:spcBef>
                <a:spcPct val="20000"/>
              </a:spcBef>
              <a:spcAft>
                <a:spcPts val="338"/>
              </a:spcAft>
            </a:pPr>
            <a:r>
              <a:rPr lang="hr-HR" sz="1200" b="1" dirty="0" err="1">
                <a:latin typeface="Franklin Gothic Book"/>
              </a:rPr>
              <a:t>Discord</a:t>
            </a:r>
            <a:r>
              <a:rPr lang="hr-HR" sz="1200" dirty="0">
                <a:latin typeface="Franklin Gothic Book"/>
              </a:rPr>
              <a:t> – detaljne tehničke rasprave i svakodnevna komunikacija</a:t>
            </a:r>
            <a:endParaRPr lang="en-US" sz="1200" dirty="0">
              <a:latin typeface="Franklin Gothic Book"/>
            </a:endParaRPr>
          </a:p>
          <a:p>
            <a:pPr lvl="2">
              <a:lnSpc>
                <a:spcPct val="100000"/>
              </a:lnSpc>
              <a:spcBef>
                <a:spcPct val="20000"/>
              </a:spcBef>
              <a:spcAft>
                <a:spcPts val="338"/>
              </a:spcAft>
            </a:pPr>
            <a:r>
              <a:rPr lang="hr-HR" sz="1200" b="1" dirty="0">
                <a:latin typeface="Franklin Gothic Book"/>
              </a:rPr>
              <a:t>WhatsApp</a:t>
            </a:r>
            <a:r>
              <a:rPr lang="hr-HR" sz="1200" dirty="0">
                <a:latin typeface="Franklin Gothic Book"/>
              </a:rPr>
              <a:t> – brza komunikacija i dogovori</a:t>
            </a:r>
            <a:endParaRPr lang="en-US" sz="1200" dirty="0">
              <a:latin typeface="Franklin Gothic Book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</a:pPr>
            <a:r>
              <a:rPr lang="hr-HR" sz="1400" dirty="0">
                <a:latin typeface="Franklin Gothic Book"/>
              </a:rPr>
              <a:t>Pregled napretka i rasprava o mogućim poboljšanjima</a:t>
            </a:r>
            <a:endParaRPr lang="en-US" sz="1400" dirty="0">
              <a:latin typeface="Franklin Gothic Book"/>
            </a:endParaRP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lang="hr-HR" sz="1600" b="1" dirty="0" err="1">
                <a:latin typeface="Franklin Gothic Book"/>
              </a:rPr>
              <a:t>GitHub</a:t>
            </a:r>
            <a:r>
              <a:rPr lang="hr-HR" sz="1600" b="1" dirty="0">
                <a:latin typeface="Franklin Gothic Book"/>
              </a:rPr>
              <a:t> iskustvo</a:t>
            </a:r>
            <a:endParaRPr lang="hr-HR" sz="1600" dirty="0">
              <a:latin typeface="Franklin Gothic Book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</a:pPr>
            <a:r>
              <a:rPr lang="hr-HR" sz="1400" dirty="0">
                <a:latin typeface="Franklin Gothic Book"/>
              </a:rPr>
              <a:t>Niko od članova nije imao iskustva s </a:t>
            </a:r>
            <a:r>
              <a:rPr lang="hr-HR" sz="1400" dirty="0" err="1">
                <a:latin typeface="Franklin Gothic Book"/>
              </a:rPr>
              <a:t>GitHubom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</a:pPr>
            <a:r>
              <a:rPr lang="hr-HR" sz="1400" dirty="0">
                <a:latin typeface="Franklin Gothic Book"/>
              </a:rPr>
              <a:t>Rad kroz </a:t>
            </a:r>
            <a:r>
              <a:rPr lang="hr-HR" sz="1400" dirty="0" err="1">
                <a:latin typeface="Franklin Gothic Book"/>
              </a:rPr>
              <a:t>pull</a:t>
            </a:r>
            <a:r>
              <a:rPr lang="hr-HR" sz="1400" dirty="0">
                <a:latin typeface="Franklin Gothic Book"/>
              </a:rPr>
              <a:t> </a:t>
            </a:r>
            <a:r>
              <a:rPr lang="hr-HR" sz="1400" dirty="0" err="1">
                <a:latin typeface="Franklin Gothic Book"/>
              </a:rPr>
              <a:t>requestove</a:t>
            </a:r>
            <a:r>
              <a:rPr lang="hr-HR" sz="1400" dirty="0">
                <a:latin typeface="Franklin Gothic Book"/>
              </a:rPr>
              <a:t> i grane za svaki </a:t>
            </a:r>
            <a:r>
              <a:rPr lang="hr-HR" sz="1400" dirty="0" err="1">
                <a:latin typeface="Franklin Gothic Book"/>
              </a:rPr>
              <a:t>feature</a:t>
            </a:r>
            <a:endParaRPr lang="hr-HR" sz="1400">
              <a:latin typeface="Franklin Gothic Book"/>
            </a:endParaRP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lang="pt-BR" sz="1600" b="1" dirty="0" err="1">
                <a:latin typeface="Franklin Gothic Book"/>
              </a:rPr>
              <a:t>Primijenjeni</a:t>
            </a:r>
            <a:r>
              <a:rPr lang="pt-BR" sz="1600" b="1" dirty="0">
                <a:latin typeface="Franklin Gothic Book"/>
              </a:rPr>
              <a:t> model </a:t>
            </a:r>
            <a:r>
              <a:rPr lang="pt-BR" sz="1600" b="1" dirty="0" err="1">
                <a:latin typeface="Franklin Gothic Book"/>
              </a:rPr>
              <a:t>životnog</a:t>
            </a:r>
            <a:r>
              <a:rPr lang="pt-BR" sz="1600" b="1" dirty="0">
                <a:latin typeface="Franklin Gothic Book"/>
              </a:rPr>
              <a:t> </a:t>
            </a:r>
            <a:r>
              <a:rPr lang="pt-BR" sz="1600" b="1" dirty="0" err="1">
                <a:latin typeface="Franklin Gothic Book"/>
              </a:rPr>
              <a:t>ciklusa</a:t>
            </a:r>
            <a:endParaRPr lang="pt-BR" sz="1600" dirty="0" err="1">
              <a:latin typeface="Franklin Gothic Book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</a:pPr>
            <a:r>
              <a:rPr lang="pt-BR" sz="1200" dirty="0" err="1">
                <a:latin typeface="Franklin Gothic Book"/>
              </a:rPr>
              <a:t>Iterativni</a:t>
            </a:r>
            <a:r>
              <a:rPr lang="pt-BR" sz="1200" dirty="0">
                <a:latin typeface="Franklin Gothic Book"/>
              </a:rPr>
              <a:t> </a:t>
            </a:r>
            <a:r>
              <a:rPr lang="pt-BR" sz="1200" dirty="0" err="1">
                <a:latin typeface="Franklin Gothic Book"/>
              </a:rPr>
              <a:t>pristup</a:t>
            </a:r>
            <a:r>
              <a:rPr lang="pt-BR" sz="1200" dirty="0">
                <a:latin typeface="Franklin Gothic Book"/>
              </a:rPr>
              <a:t> s </a:t>
            </a:r>
            <a:r>
              <a:rPr lang="pt-BR" sz="1200" dirty="0" err="1">
                <a:latin typeface="Franklin Gothic Book"/>
              </a:rPr>
              <a:t>elementima</a:t>
            </a:r>
            <a:r>
              <a:rPr lang="pt-BR" sz="1200" dirty="0">
                <a:latin typeface="Franklin Gothic Book"/>
              </a:rPr>
              <a:t> </a:t>
            </a:r>
            <a:r>
              <a:rPr lang="pt-BR" sz="1200" dirty="0" err="1">
                <a:latin typeface="Franklin Gothic Book"/>
              </a:rPr>
              <a:t>vodopadnog</a:t>
            </a:r>
            <a:r>
              <a:rPr lang="pt-BR" sz="1200" dirty="0">
                <a:latin typeface="Franklin Gothic Book"/>
              </a:rPr>
              <a:t> modela</a:t>
            </a:r>
            <a:endParaRPr lang="en-US" sz="1200" dirty="0">
              <a:latin typeface="Franklin Gothic Book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</a:pPr>
            <a:r>
              <a:rPr lang="pt-BR" sz="1200" dirty="0" err="1">
                <a:latin typeface="Franklin Gothic Book"/>
              </a:rPr>
              <a:t>Početna</a:t>
            </a:r>
            <a:r>
              <a:rPr lang="pt-BR" sz="1200" dirty="0">
                <a:latin typeface="Franklin Gothic Book"/>
              </a:rPr>
              <a:t> </a:t>
            </a:r>
            <a:r>
              <a:rPr lang="pt-BR" sz="1200" dirty="0" err="1">
                <a:latin typeface="Franklin Gothic Book"/>
              </a:rPr>
              <a:t>faza</a:t>
            </a:r>
            <a:r>
              <a:rPr lang="pt-BR" sz="1200" dirty="0">
                <a:latin typeface="Franklin Gothic Book"/>
              </a:rPr>
              <a:t> – </a:t>
            </a:r>
            <a:r>
              <a:rPr lang="pt-BR" sz="1200" dirty="0" err="1">
                <a:latin typeface="Franklin Gothic Book"/>
              </a:rPr>
              <a:t>definiranje</a:t>
            </a:r>
            <a:r>
              <a:rPr lang="pt-BR" sz="1200" dirty="0">
                <a:latin typeface="Franklin Gothic Book"/>
              </a:rPr>
              <a:t> </a:t>
            </a:r>
            <a:r>
              <a:rPr lang="pt-BR" sz="1200" dirty="0" err="1">
                <a:latin typeface="Franklin Gothic Book"/>
              </a:rPr>
              <a:t>specifikacija</a:t>
            </a:r>
            <a:r>
              <a:rPr lang="pt-BR" sz="1200" dirty="0">
                <a:latin typeface="Franklin Gothic Book"/>
              </a:rPr>
              <a:t> i </a:t>
            </a:r>
            <a:r>
              <a:rPr lang="pt-BR" sz="1200" dirty="0" err="1">
                <a:latin typeface="Franklin Gothic Book"/>
              </a:rPr>
              <a:t>dizajna</a:t>
            </a:r>
            <a:endParaRPr lang="en-US" sz="1200" dirty="0" err="1">
              <a:latin typeface="Franklin Gothic Book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</a:pPr>
            <a:r>
              <a:rPr lang="pt-BR" sz="1200" dirty="0" err="1">
                <a:latin typeface="Franklin Gothic Book"/>
              </a:rPr>
              <a:t>Iterativna</a:t>
            </a:r>
            <a:r>
              <a:rPr lang="pt-BR" sz="1200" dirty="0">
                <a:latin typeface="Franklin Gothic Book"/>
              </a:rPr>
              <a:t> </a:t>
            </a:r>
            <a:r>
              <a:rPr lang="pt-BR" sz="1200" dirty="0" err="1">
                <a:latin typeface="Franklin Gothic Book"/>
              </a:rPr>
              <a:t>implementacija</a:t>
            </a:r>
            <a:r>
              <a:rPr lang="pt-BR" sz="1200" dirty="0">
                <a:latin typeface="Franklin Gothic Book"/>
              </a:rPr>
              <a:t> s </a:t>
            </a:r>
            <a:r>
              <a:rPr lang="pt-BR" sz="1200" dirty="0" err="1">
                <a:latin typeface="Franklin Gothic Book"/>
              </a:rPr>
              <a:t>redovitim</a:t>
            </a:r>
            <a:r>
              <a:rPr lang="pt-BR" sz="1200" dirty="0">
                <a:latin typeface="Franklin Gothic Book"/>
              </a:rPr>
              <a:t> </a:t>
            </a:r>
            <a:r>
              <a:rPr lang="pt-BR" sz="1200" dirty="0" err="1">
                <a:latin typeface="Franklin Gothic Book"/>
              </a:rPr>
              <a:t>revizijama</a:t>
            </a:r>
            <a:endParaRPr lang="hr-HR" sz="1200" dirty="0" err="1">
              <a:latin typeface="Franklin Gothic Book"/>
            </a:endParaRP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lang="hr-HR" sz="1700" b="1" dirty="0">
                <a:latin typeface="Franklin Gothic Book"/>
              </a:rPr>
              <a:t>Vremenski okvir razvoja</a:t>
            </a:r>
            <a:endParaRPr lang="hr-HR" sz="1700" dirty="0">
              <a:latin typeface="Franklin Gothic Book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</a:pPr>
            <a:r>
              <a:rPr lang="hr-HR" sz="1300" dirty="0">
                <a:latin typeface="Franklin Gothic Book"/>
              </a:rPr>
              <a:t>Razvoj podijeljen u faze: specifikacija, implementacija, testiranje, dokumentacija</a:t>
            </a:r>
            <a:endParaRPr lang="en-US" sz="1300" dirty="0">
              <a:latin typeface="Franklin Gothic Book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</a:pPr>
            <a:r>
              <a:rPr lang="hr-HR" sz="1300" dirty="0">
                <a:latin typeface="Franklin Gothic Book"/>
              </a:rPr>
              <a:t>Grafički prikaz korišten za praćenje napretka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</a:pPr>
            <a:r>
              <a:rPr lang="hr-HR" sz="1300" dirty="0">
                <a:latin typeface="Franklin Gothic Book"/>
              </a:rPr>
              <a:t>Redoviti pregledi napretka i prilagodbe plana</a:t>
            </a:r>
            <a:endParaRPr lang="en-US" sz="1300" dirty="0">
              <a:latin typeface="Franklin Gothic Book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</a:pPr>
            <a:endParaRPr lang="hr-HR" sz="1300" dirty="0">
              <a:latin typeface="Franklin Gothic Book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AA22A4-B3F0-21D0-6942-0F91A06F9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68AFA-4388-4DC7-91EF-D9DCC8EDDBF1}" type="datetime1"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AE809E-6B5F-811B-01EC-B94C7F574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C40154-339B-0D23-F260-34CF52735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4675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BBFDD-71BF-EFC8-4608-6154B4C0C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err="1">
                <a:ea typeface="+mj-lt"/>
                <a:cs typeface="+mj-lt"/>
              </a:rPr>
              <a:t>Zaključak</a:t>
            </a:r>
            <a:r>
              <a:rPr lang="en-GB" b="1" dirty="0">
                <a:ea typeface="+mj-lt"/>
                <a:cs typeface="+mj-lt"/>
              </a:rPr>
              <a:t> </a:t>
            </a:r>
            <a:r>
              <a:rPr lang="en-GB" b="1" err="1">
                <a:ea typeface="+mj-lt"/>
                <a:cs typeface="+mj-lt"/>
              </a:rPr>
              <a:t>i</a:t>
            </a:r>
            <a:r>
              <a:rPr lang="en-GB" b="1" dirty="0">
                <a:ea typeface="+mj-lt"/>
                <a:cs typeface="+mj-lt"/>
              </a:rPr>
              <a:t> </a:t>
            </a:r>
            <a:r>
              <a:rPr lang="en-GB" b="1" err="1">
                <a:ea typeface="+mj-lt"/>
                <a:cs typeface="+mj-lt"/>
              </a:rPr>
              <a:t>izazovi</a:t>
            </a:r>
            <a:endParaRPr lang="en-US" b="1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8C6897-8F4A-BFA8-DF5D-D4D0907068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>
                <a:ea typeface="+mn-lt"/>
                <a:cs typeface="+mn-lt"/>
              </a:rPr>
              <a:t>Projekt je </a:t>
            </a:r>
            <a:r>
              <a:rPr lang="en-GB" dirty="0" err="1">
                <a:ea typeface="+mn-lt"/>
                <a:cs typeface="+mn-lt"/>
              </a:rPr>
              <a:t>izrađen</a:t>
            </a:r>
            <a:r>
              <a:rPr lang="en-GB" dirty="0">
                <a:ea typeface="+mn-lt"/>
                <a:cs typeface="+mn-lt"/>
              </a:rPr>
              <a:t> u </a:t>
            </a:r>
            <a:r>
              <a:rPr lang="en-GB" b="1" dirty="0" err="1">
                <a:ea typeface="+mn-lt"/>
                <a:cs typeface="+mn-lt"/>
              </a:rPr>
              <a:t>ograničenom</a:t>
            </a:r>
            <a:r>
              <a:rPr lang="en-GB" b="1" dirty="0">
                <a:ea typeface="+mn-lt"/>
                <a:cs typeface="+mn-lt"/>
              </a:rPr>
              <a:t> </a:t>
            </a:r>
            <a:r>
              <a:rPr lang="en-GB" b="1" dirty="0" err="1">
                <a:ea typeface="+mn-lt"/>
                <a:cs typeface="+mn-lt"/>
              </a:rPr>
              <a:t>vremenu</a:t>
            </a:r>
            <a:r>
              <a:rPr lang="en-GB" dirty="0">
                <a:ea typeface="+mn-lt"/>
                <a:cs typeface="+mn-lt"/>
              </a:rPr>
              <a:t>, </a:t>
            </a:r>
            <a:r>
              <a:rPr lang="en-GB" dirty="0" err="1">
                <a:ea typeface="+mn-lt"/>
                <a:cs typeface="+mn-lt"/>
              </a:rPr>
              <a:t>implementirane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su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b="1" dirty="0" err="1">
                <a:ea typeface="+mn-lt"/>
                <a:cs typeface="+mn-lt"/>
              </a:rPr>
              <a:t>osnovne</a:t>
            </a:r>
            <a:r>
              <a:rPr lang="en-GB" b="1" dirty="0">
                <a:ea typeface="+mn-lt"/>
                <a:cs typeface="+mn-lt"/>
              </a:rPr>
              <a:t> </a:t>
            </a:r>
            <a:r>
              <a:rPr lang="en-GB" b="1" dirty="0" err="1">
                <a:ea typeface="+mn-lt"/>
                <a:cs typeface="+mn-lt"/>
              </a:rPr>
              <a:t>funkcionalnosti</a:t>
            </a:r>
            <a:endParaRPr lang="en-GB" dirty="0" err="1"/>
          </a:p>
          <a:p>
            <a:r>
              <a:rPr lang="en-GB" dirty="0">
                <a:ea typeface="+mn-lt"/>
                <a:cs typeface="+mn-lt"/>
              </a:rPr>
              <a:t>Dio </a:t>
            </a:r>
            <a:r>
              <a:rPr lang="en-GB" dirty="0" err="1">
                <a:ea typeface="+mn-lt"/>
                <a:cs typeface="+mn-lt"/>
              </a:rPr>
              <a:t>planiranih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opcija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nije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realiziran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zbog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b="1" dirty="0" err="1">
                <a:ea typeface="+mn-lt"/>
                <a:cs typeface="+mn-lt"/>
              </a:rPr>
              <a:t>složenosti</a:t>
            </a:r>
            <a:r>
              <a:rPr lang="en-GB" b="1" dirty="0">
                <a:ea typeface="+mn-lt"/>
                <a:cs typeface="+mn-lt"/>
              </a:rPr>
              <a:t> </a:t>
            </a:r>
            <a:r>
              <a:rPr lang="en-GB" b="1" dirty="0" err="1">
                <a:ea typeface="+mn-lt"/>
                <a:cs typeface="+mn-lt"/>
              </a:rPr>
              <a:t>sustava</a:t>
            </a:r>
            <a:r>
              <a:rPr lang="en-GB" b="1" dirty="0">
                <a:ea typeface="+mn-lt"/>
                <a:cs typeface="+mn-lt"/>
              </a:rPr>
              <a:t> </a:t>
            </a:r>
            <a:r>
              <a:rPr lang="en-GB" b="1" dirty="0" err="1">
                <a:ea typeface="+mn-lt"/>
                <a:cs typeface="+mn-lt"/>
              </a:rPr>
              <a:t>i</a:t>
            </a:r>
            <a:r>
              <a:rPr lang="en-GB" b="1" dirty="0">
                <a:ea typeface="+mn-lt"/>
                <a:cs typeface="+mn-lt"/>
              </a:rPr>
              <a:t> </a:t>
            </a:r>
            <a:r>
              <a:rPr lang="en-GB" b="1" dirty="0" err="1">
                <a:ea typeface="+mn-lt"/>
                <a:cs typeface="+mn-lt"/>
              </a:rPr>
              <a:t>opsega</a:t>
            </a:r>
            <a:r>
              <a:rPr lang="en-GB" b="1" dirty="0">
                <a:ea typeface="+mn-lt"/>
                <a:cs typeface="+mn-lt"/>
              </a:rPr>
              <a:t> </a:t>
            </a:r>
            <a:r>
              <a:rPr lang="en-GB" b="1" dirty="0" err="1">
                <a:ea typeface="+mn-lt"/>
                <a:cs typeface="+mn-lt"/>
              </a:rPr>
              <a:t>zahtjeva</a:t>
            </a:r>
            <a:endParaRPr lang="en-GB" dirty="0" err="1"/>
          </a:p>
          <a:p>
            <a:r>
              <a:rPr lang="en-GB" dirty="0" err="1">
                <a:ea typeface="+mn-lt"/>
                <a:cs typeface="+mn-lt"/>
              </a:rPr>
              <a:t>Glavni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izazovi</a:t>
            </a:r>
            <a:r>
              <a:rPr lang="en-GB" dirty="0">
                <a:ea typeface="+mn-lt"/>
                <a:cs typeface="+mn-lt"/>
              </a:rPr>
              <a:t>: </a:t>
            </a:r>
            <a:r>
              <a:rPr lang="en-GB" b="1" dirty="0" err="1">
                <a:ea typeface="+mn-lt"/>
                <a:cs typeface="+mn-lt"/>
              </a:rPr>
              <a:t>integracija</a:t>
            </a:r>
            <a:r>
              <a:rPr lang="en-GB" b="1" dirty="0">
                <a:ea typeface="+mn-lt"/>
                <a:cs typeface="+mn-lt"/>
              </a:rPr>
              <a:t> </a:t>
            </a:r>
            <a:r>
              <a:rPr lang="en-GB" b="1" dirty="0" err="1">
                <a:ea typeface="+mn-lt"/>
                <a:cs typeface="+mn-lt"/>
              </a:rPr>
              <a:t>vanjskih</a:t>
            </a:r>
            <a:r>
              <a:rPr lang="en-GB" b="1" dirty="0">
                <a:ea typeface="+mn-lt"/>
                <a:cs typeface="+mn-lt"/>
              </a:rPr>
              <a:t> </a:t>
            </a:r>
            <a:r>
              <a:rPr lang="en-GB" b="1" dirty="0" err="1">
                <a:ea typeface="+mn-lt"/>
                <a:cs typeface="+mn-lt"/>
              </a:rPr>
              <a:t>servisa</a:t>
            </a:r>
            <a:r>
              <a:rPr lang="en-GB" dirty="0">
                <a:ea typeface="+mn-lt"/>
                <a:cs typeface="+mn-lt"/>
              </a:rPr>
              <a:t> (</a:t>
            </a:r>
            <a:r>
              <a:rPr lang="en-GB" dirty="0" err="1">
                <a:ea typeface="+mn-lt"/>
                <a:cs typeface="+mn-lt"/>
              </a:rPr>
              <a:t>autentifikacija</a:t>
            </a:r>
            <a:r>
              <a:rPr lang="en-GB" dirty="0">
                <a:ea typeface="+mn-lt"/>
                <a:cs typeface="+mn-lt"/>
              </a:rPr>
              <a:t>, </a:t>
            </a:r>
            <a:r>
              <a:rPr lang="en-GB" dirty="0" err="1">
                <a:ea typeface="+mn-lt"/>
                <a:cs typeface="+mn-lt"/>
              </a:rPr>
              <a:t>plaćanje</a:t>
            </a:r>
            <a:r>
              <a:rPr lang="en-GB" dirty="0">
                <a:ea typeface="+mn-lt"/>
                <a:cs typeface="+mn-lt"/>
              </a:rPr>
              <a:t>, </a:t>
            </a:r>
            <a:r>
              <a:rPr lang="en-GB" dirty="0" err="1">
                <a:ea typeface="+mn-lt"/>
                <a:cs typeface="+mn-lt"/>
              </a:rPr>
              <a:t>kalendar</a:t>
            </a:r>
            <a:r>
              <a:rPr lang="en-GB" dirty="0">
                <a:ea typeface="+mn-lt"/>
                <a:cs typeface="+mn-lt"/>
              </a:rPr>
              <a:t>) </a:t>
            </a:r>
            <a:r>
              <a:rPr lang="en-GB" dirty="0" err="1">
                <a:ea typeface="+mn-lt"/>
                <a:cs typeface="+mn-lt"/>
              </a:rPr>
              <a:t>i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b="1" dirty="0">
                <a:ea typeface="+mn-lt"/>
                <a:cs typeface="+mn-lt"/>
              </a:rPr>
              <a:t>real-time </a:t>
            </a:r>
            <a:r>
              <a:rPr lang="en-GB" b="1" dirty="0" err="1">
                <a:ea typeface="+mn-lt"/>
                <a:cs typeface="+mn-lt"/>
              </a:rPr>
              <a:t>komunikacija</a:t>
            </a:r>
            <a:endParaRPr lang="en-GB" dirty="0" err="1"/>
          </a:p>
          <a:p>
            <a:r>
              <a:rPr lang="en-GB" dirty="0">
                <a:ea typeface="+mn-lt"/>
                <a:cs typeface="+mn-lt"/>
              </a:rPr>
              <a:t>Projekt je </a:t>
            </a:r>
            <a:r>
              <a:rPr lang="en-GB" dirty="0" err="1">
                <a:ea typeface="+mn-lt"/>
                <a:cs typeface="+mn-lt"/>
              </a:rPr>
              <a:t>omogućio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razvoj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znanja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iz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b="1" dirty="0" err="1">
                <a:ea typeface="+mn-lt"/>
                <a:cs typeface="+mn-lt"/>
              </a:rPr>
              <a:t>analize</a:t>
            </a:r>
            <a:r>
              <a:rPr lang="en-GB" b="1" dirty="0">
                <a:ea typeface="+mn-lt"/>
                <a:cs typeface="+mn-lt"/>
              </a:rPr>
              <a:t> </a:t>
            </a:r>
            <a:r>
              <a:rPr lang="en-GB" b="1" dirty="0" err="1">
                <a:ea typeface="+mn-lt"/>
                <a:cs typeface="+mn-lt"/>
              </a:rPr>
              <a:t>zahtjeva</a:t>
            </a:r>
            <a:r>
              <a:rPr lang="en-GB" b="1" dirty="0">
                <a:ea typeface="+mn-lt"/>
                <a:cs typeface="+mn-lt"/>
              </a:rPr>
              <a:t>, </a:t>
            </a:r>
            <a:r>
              <a:rPr lang="en-GB" b="1" dirty="0" err="1">
                <a:ea typeface="+mn-lt"/>
                <a:cs typeface="+mn-lt"/>
              </a:rPr>
              <a:t>timskog</a:t>
            </a:r>
            <a:r>
              <a:rPr lang="en-GB" b="1" dirty="0">
                <a:ea typeface="+mn-lt"/>
                <a:cs typeface="+mn-lt"/>
              </a:rPr>
              <a:t> rada </a:t>
            </a:r>
            <a:r>
              <a:rPr lang="en-GB" b="1" dirty="0" err="1">
                <a:ea typeface="+mn-lt"/>
                <a:cs typeface="+mn-lt"/>
              </a:rPr>
              <a:t>i</a:t>
            </a:r>
            <a:r>
              <a:rPr lang="en-GB" b="1" dirty="0">
                <a:ea typeface="+mn-lt"/>
                <a:cs typeface="+mn-lt"/>
              </a:rPr>
              <a:t> web </a:t>
            </a:r>
            <a:r>
              <a:rPr lang="en-GB" b="1" dirty="0" err="1">
                <a:ea typeface="+mn-lt"/>
                <a:cs typeface="+mn-lt"/>
              </a:rPr>
              <a:t>razvoja</a:t>
            </a:r>
            <a:endParaRPr lang="en-GB" dirty="0" err="1"/>
          </a:p>
          <a:p>
            <a:r>
              <a:rPr lang="en-GB" dirty="0">
                <a:ea typeface="+mn-lt"/>
                <a:cs typeface="+mn-lt"/>
              </a:rPr>
              <a:t>Za </a:t>
            </a:r>
            <a:r>
              <a:rPr lang="en-GB" dirty="0" err="1">
                <a:ea typeface="+mn-lt"/>
                <a:cs typeface="+mn-lt"/>
              </a:rPr>
              <a:t>napredniju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izvedbu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korisna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su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dodatna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znanja</a:t>
            </a:r>
            <a:r>
              <a:rPr lang="en-GB" dirty="0">
                <a:ea typeface="+mn-lt"/>
                <a:cs typeface="+mn-lt"/>
              </a:rPr>
              <a:t> o </a:t>
            </a:r>
            <a:r>
              <a:rPr lang="en-GB" b="1" dirty="0" err="1">
                <a:ea typeface="+mn-lt"/>
                <a:cs typeface="+mn-lt"/>
              </a:rPr>
              <a:t>sigurnosti</a:t>
            </a:r>
            <a:r>
              <a:rPr lang="en-GB" b="1" dirty="0">
                <a:ea typeface="+mn-lt"/>
                <a:cs typeface="+mn-lt"/>
              </a:rPr>
              <a:t>, API-</a:t>
            </a:r>
            <a:r>
              <a:rPr lang="en-GB" b="1" dirty="0" err="1">
                <a:ea typeface="+mn-lt"/>
                <a:cs typeface="+mn-lt"/>
              </a:rPr>
              <a:t>jima</a:t>
            </a:r>
            <a:r>
              <a:rPr lang="en-GB" b="1" dirty="0">
                <a:ea typeface="+mn-lt"/>
                <a:cs typeface="+mn-lt"/>
              </a:rPr>
              <a:t> </a:t>
            </a:r>
            <a:r>
              <a:rPr lang="en-GB" b="1" dirty="0" err="1">
                <a:ea typeface="+mn-lt"/>
                <a:cs typeface="+mn-lt"/>
              </a:rPr>
              <a:t>i</a:t>
            </a:r>
            <a:r>
              <a:rPr lang="en-GB" b="1" dirty="0">
                <a:ea typeface="+mn-lt"/>
                <a:cs typeface="+mn-lt"/>
              </a:rPr>
              <a:t> </a:t>
            </a:r>
            <a:r>
              <a:rPr lang="en-GB" b="1" dirty="0" err="1">
                <a:ea typeface="+mn-lt"/>
                <a:cs typeface="+mn-lt"/>
              </a:rPr>
              <a:t>bazama</a:t>
            </a:r>
            <a:r>
              <a:rPr lang="en-GB" b="1" dirty="0">
                <a:ea typeface="+mn-lt"/>
                <a:cs typeface="+mn-lt"/>
              </a:rPr>
              <a:t> </a:t>
            </a:r>
            <a:r>
              <a:rPr lang="en-GB" b="1" dirty="0" err="1">
                <a:ea typeface="+mn-lt"/>
                <a:cs typeface="+mn-lt"/>
              </a:rPr>
              <a:t>podataka</a:t>
            </a:r>
            <a:endParaRPr lang="en-GB" dirty="0" err="1"/>
          </a:p>
          <a:p>
            <a:r>
              <a:rPr lang="en-GB" dirty="0" err="1">
                <a:ea typeface="+mn-lt"/>
                <a:cs typeface="+mn-lt"/>
              </a:rPr>
              <a:t>Aplikacija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ima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b="1" dirty="0" err="1">
                <a:ea typeface="+mn-lt"/>
                <a:cs typeface="+mn-lt"/>
              </a:rPr>
              <a:t>stabilnu</a:t>
            </a:r>
            <a:r>
              <a:rPr lang="en-GB" b="1" dirty="0">
                <a:ea typeface="+mn-lt"/>
                <a:cs typeface="+mn-lt"/>
              </a:rPr>
              <a:t> </a:t>
            </a:r>
            <a:r>
              <a:rPr lang="en-GB" b="1" dirty="0" err="1">
                <a:ea typeface="+mn-lt"/>
                <a:cs typeface="+mn-lt"/>
              </a:rPr>
              <a:t>osnovu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i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potencijal</a:t>
            </a:r>
            <a:r>
              <a:rPr lang="en-GB" dirty="0">
                <a:ea typeface="+mn-lt"/>
                <a:cs typeface="+mn-lt"/>
              </a:rPr>
              <a:t> za </a:t>
            </a:r>
            <a:r>
              <a:rPr lang="en-GB" b="1" dirty="0" err="1">
                <a:ea typeface="+mn-lt"/>
                <a:cs typeface="+mn-lt"/>
              </a:rPr>
              <a:t>daljnje</a:t>
            </a:r>
            <a:r>
              <a:rPr lang="en-GB" b="1" dirty="0">
                <a:ea typeface="+mn-lt"/>
                <a:cs typeface="+mn-lt"/>
              </a:rPr>
              <a:t> </a:t>
            </a:r>
            <a:r>
              <a:rPr lang="en-GB" b="1" dirty="0" err="1">
                <a:ea typeface="+mn-lt"/>
                <a:cs typeface="+mn-lt"/>
              </a:rPr>
              <a:t>proširenje</a:t>
            </a:r>
            <a:endParaRPr lang="en-GB" dirty="0" err="1"/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627D28-5533-E03D-F282-3CDEBAF8D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4B305-278E-4015-A9FB-9DD178F5019D}" type="datetime1"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966DB-5F49-8AE0-B092-B58D3682E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FD527E-F752-64BF-1834-FE15A4CF0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132787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VTI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ChronicleVTI">
      <a:majorFont>
        <a:latin typeface="Univers Condensed"/>
        <a:ea typeface=""/>
        <a:cs typeface=""/>
      </a:majorFont>
      <a:minorFont>
        <a:latin typeface="Calisto MT" panose="02040603050505030304"/>
        <a:ea typeface=""/>
        <a:cs typeface=""/>
      </a:minorFont>
    </a:fontScheme>
    <a:fmtScheme name="Chronicle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hronicleVTI" id="{534FD3B1-53CD-4A5C-943C-C44DFF248C3E}" vid="{19A790DA-2E4D-4134-98A6-7DECB1A1B84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Application>Microsoft Office PowerPoint</Application>
  <PresentationFormat>Widescreen</PresentationFormat>
  <Slides>12</Slides>
  <Notes>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ChronicleVTI</vt:lpstr>
      <vt:lpstr>PawPal</vt:lpstr>
      <vt:lpstr>Sadržaj</vt:lpstr>
      <vt:lpstr>Članovi i uloge</vt:lpstr>
      <vt:lpstr>O projektu</vt:lpstr>
      <vt:lpstr>PREGLED ZAHTJEVA</vt:lpstr>
      <vt:lpstr>PREGLED ZAHTJEVA</vt:lpstr>
      <vt:lpstr>PREgled zahtjeva</vt:lpstr>
      <vt:lpstr>UML dijagram obrazaca uporabe</vt:lpstr>
      <vt:lpstr>Sekvencijski dijagram usluge plaćanja i rezervacije termina</vt:lpstr>
      <vt:lpstr>Korišteni alati i tehnologije</vt:lpstr>
      <vt:lpstr>Organizacija rada</vt:lpstr>
      <vt:lpstr>Zaključak i izazovi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Nikola Ivković</dc:creator>
  <cp:revision>122</cp:revision>
  <dcterms:created xsi:type="dcterms:W3CDTF">2025-10-22T17:40:19Z</dcterms:created>
  <dcterms:modified xsi:type="dcterms:W3CDTF">2026-01-23T23:17:07Z</dcterms:modified>
</cp:coreProperties>
</file>